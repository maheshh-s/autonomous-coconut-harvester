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5" r:id="rId2"/>
    <p:sldId id="278" r:id="rId3"/>
    <p:sldId id="279" r:id="rId4"/>
    <p:sldId id="294" r:id="rId5"/>
    <p:sldId id="295" r:id="rId6"/>
    <p:sldId id="296" r:id="rId7"/>
    <p:sldId id="281" r:id="rId8"/>
    <p:sldId id="282" r:id="rId9"/>
    <p:sldId id="283" r:id="rId10"/>
    <p:sldId id="284" r:id="rId11"/>
    <p:sldId id="285" r:id="rId12"/>
    <p:sldId id="286" r:id="rId13"/>
    <p:sldId id="287" r:id="rId14"/>
    <p:sldId id="28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25" autoAdjust="0"/>
    <p:restoredTop sz="94660"/>
  </p:normalViewPr>
  <p:slideViewPr>
    <p:cSldViewPr snapToGrid="0">
      <p:cViewPr>
        <p:scale>
          <a:sx n="93" d="100"/>
          <a:sy n="93" d="100"/>
        </p:scale>
        <p:origin x="176" y="824"/>
      </p:cViewPr>
      <p:guideLst>
        <p:guide orient="horz" pos="2160"/>
        <p:guide pos="3840"/>
      </p:guideLst>
    </p:cSldViewPr>
  </p:slideViewPr>
  <p:notesTextViewPr>
    <p:cViewPr>
      <p:scale>
        <a:sx n="1" d="1"/>
        <a:sy n="1" d="1"/>
      </p:scale>
      <p:origin x="0" y="0"/>
    </p:cViewPr>
  </p:notesTextViewPr>
  <p:sorterViewPr>
    <p:cViewPr>
      <p:scale>
        <a:sx n="100" d="100"/>
        <a:sy n="100" d="100"/>
      </p:scale>
      <p:origin x="0" y="-186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4"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05"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0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07"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8"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09"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extLst>
      <p:ext uri="{BB962C8B-B14F-4D97-AF65-F5344CB8AC3E}">
        <p14:creationId xmlns:p14="http://schemas.microsoft.com/office/powerpoint/2010/main" val="421536985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4FD7-2712-4005-7DD6-FE493D6EE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26064-6574-8280-E088-4BEA625222CC}"/>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3DFC1CE5-F083-42C4-A1B1-1C28A8926DD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720956E-943C-EDB4-E18B-CF6703D30A27}"/>
              </a:ext>
            </a:extLst>
          </p:cNvPr>
          <p:cNvSpPr>
            <a:spLocks noGrp="1"/>
          </p:cNvSpPr>
          <p:nvPr>
            <p:ph type="sldNum" sz="quarter" idx="10"/>
          </p:nvPr>
        </p:nvSpPr>
        <p:spPr/>
        <p:txBody>
          <a:bodyPr/>
          <a:lstStyle/>
          <a:p>
            <a:fld id="{A9A0EA98-5831-4853-B862-C702E6EB345C}" type="slidenum">
              <a:rPr lang="en-US" smtClean="0"/>
              <a:pPr/>
              <a:t>4</a:t>
            </a:fld>
            <a:endParaRPr lang="en-US"/>
          </a:p>
        </p:txBody>
      </p:sp>
    </p:spTree>
    <p:extLst>
      <p:ext uri="{BB962C8B-B14F-4D97-AF65-F5344CB8AC3E}">
        <p14:creationId xmlns:p14="http://schemas.microsoft.com/office/powerpoint/2010/main" val="2071091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F607-CA06-6B6E-97C1-5DB14340A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68C63-D277-AD39-3AD3-5C055F6400BA}"/>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E372C51C-5E25-51BF-7717-18F66C29BAC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1675F38D-29D4-23EA-8840-14EFF81BFE3F}"/>
              </a:ext>
            </a:extLst>
          </p:cNvPr>
          <p:cNvSpPr>
            <a:spLocks noGrp="1"/>
          </p:cNvSpPr>
          <p:nvPr>
            <p:ph type="sldNum" sz="quarter" idx="10"/>
          </p:nvPr>
        </p:nvSpPr>
        <p:spPr/>
        <p:txBody>
          <a:bodyPr/>
          <a:lstStyle/>
          <a:p>
            <a:fld id="{A9A0EA98-5831-4853-B862-C702E6EB345C}" type="slidenum">
              <a:rPr lang="en-US" smtClean="0"/>
              <a:pPr/>
              <a:t>5</a:t>
            </a:fld>
            <a:endParaRPr lang="en-US"/>
          </a:p>
        </p:txBody>
      </p:sp>
    </p:spTree>
    <p:extLst>
      <p:ext uri="{BB962C8B-B14F-4D97-AF65-F5344CB8AC3E}">
        <p14:creationId xmlns:p14="http://schemas.microsoft.com/office/powerpoint/2010/main" val="3441255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3840-2047-FF83-D879-CC288B710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88203-370C-CF56-185A-5F5BC2D801CF}"/>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F98E4AAB-17C3-C292-CC60-0EE9A7AA03D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55D26B8-E2F4-0C12-C407-E6FDCF688A28}"/>
              </a:ext>
            </a:extLst>
          </p:cNvPr>
          <p:cNvSpPr>
            <a:spLocks noGrp="1"/>
          </p:cNvSpPr>
          <p:nvPr>
            <p:ph type="sldNum" sz="quarter" idx="10"/>
          </p:nvPr>
        </p:nvSpPr>
        <p:spPr/>
        <p:txBody>
          <a:bodyPr/>
          <a:lstStyle/>
          <a:p>
            <a:fld id="{A9A0EA98-5831-4853-B862-C702E6EB345C}" type="slidenum">
              <a:rPr lang="en-US" smtClean="0"/>
              <a:pPr/>
              <a:t>6</a:t>
            </a:fld>
            <a:endParaRPr lang="en-US"/>
          </a:p>
        </p:txBody>
      </p:sp>
    </p:spTree>
    <p:extLst>
      <p:ext uri="{BB962C8B-B14F-4D97-AF65-F5344CB8AC3E}">
        <p14:creationId xmlns:p14="http://schemas.microsoft.com/office/powerpoint/2010/main" val="820635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A2D0D-2C35-58B5-7106-26F544BB1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A4B0C3-6EBA-BE36-310D-D9CF25658C46}"/>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5168E547-475C-7C0D-10F0-6DBADCBA07C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34C55C9-E30E-36F7-74E4-C4F1764BD061}"/>
              </a:ext>
            </a:extLst>
          </p:cNvPr>
          <p:cNvSpPr>
            <a:spLocks noGrp="1"/>
          </p:cNvSpPr>
          <p:nvPr>
            <p:ph type="sldNum" sz="quarter" idx="10"/>
          </p:nvPr>
        </p:nvSpPr>
        <p:spPr/>
        <p:txBody>
          <a:bodyPr/>
          <a:lstStyle/>
          <a:p>
            <a:fld id="{A9A0EA98-5831-4853-B862-C702E6EB345C}" type="slidenum">
              <a:rPr lang="en-US" smtClean="0"/>
              <a:pPr/>
              <a:t>7</a:t>
            </a:fld>
            <a:endParaRPr lang="en-US"/>
          </a:p>
        </p:txBody>
      </p:sp>
    </p:spTree>
    <p:extLst>
      <p:ext uri="{BB962C8B-B14F-4D97-AF65-F5344CB8AC3E}">
        <p14:creationId xmlns:p14="http://schemas.microsoft.com/office/powerpoint/2010/main" val="3637896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C26B-E926-E22D-7B1D-E1B7DAA1A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02B7F-576F-B815-B005-0329D6E6031F}"/>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EFE613BE-ABFC-FDEB-C105-61004D76D9B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0FD53367-8F8C-63BC-FD67-B40D3BE4A18E}"/>
              </a:ext>
            </a:extLst>
          </p:cNvPr>
          <p:cNvSpPr>
            <a:spLocks noGrp="1"/>
          </p:cNvSpPr>
          <p:nvPr>
            <p:ph type="sldNum" sz="quarter" idx="10"/>
          </p:nvPr>
        </p:nvSpPr>
        <p:spPr/>
        <p:txBody>
          <a:bodyPr/>
          <a:lstStyle/>
          <a:p>
            <a:fld id="{A9A0EA98-5831-4853-B862-C702E6EB345C}" type="slidenum">
              <a:rPr lang="en-US" smtClean="0"/>
              <a:pPr/>
              <a:t>8</a:t>
            </a:fld>
            <a:endParaRPr lang="en-US"/>
          </a:p>
        </p:txBody>
      </p:sp>
    </p:spTree>
    <p:extLst>
      <p:ext uri="{BB962C8B-B14F-4D97-AF65-F5344CB8AC3E}">
        <p14:creationId xmlns:p14="http://schemas.microsoft.com/office/powerpoint/2010/main" val="3757207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04E3-EF00-048E-BF66-E5048ADAE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63B55-11EF-30A5-1849-A7BCFEF30124}"/>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8BD45F1F-CDD2-9350-AB5C-5E1A678761F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8A7822D-5449-7598-8FB6-D13339FA0151}"/>
              </a:ext>
            </a:extLst>
          </p:cNvPr>
          <p:cNvSpPr>
            <a:spLocks noGrp="1"/>
          </p:cNvSpPr>
          <p:nvPr>
            <p:ph type="sldNum" sz="quarter" idx="10"/>
          </p:nvPr>
        </p:nvSpPr>
        <p:spPr/>
        <p:txBody>
          <a:bodyPr/>
          <a:lstStyle/>
          <a:p>
            <a:fld id="{A9A0EA98-5831-4853-B862-C702E6EB345C}" type="slidenum">
              <a:rPr lang="en-US" smtClean="0"/>
              <a:pPr/>
              <a:t>9</a:t>
            </a:fld>
            <a:endParaRPr lang="en-US"/>
          </a:p>
        </p:txBody>
      </p:sp>
    </p:spTree>
    <p:extLst>
      <p:ext uri="{BB962C8B-B14F-4D97-AF65-F5344CB8AC3E}">
        <p14:creationId xmlns:p14="http://schemas.microsoft.com/office/powerpoint/2010/main" val="2052682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B417-6E47-28A7-D848-9CA6F6938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720C2-1619-D686-0430-5ED519CB8BD3}"/>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5EBD2C74-FD38-5573-90A4-A7C485B76E09}"/>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D625774-90B2-FAC1-47CE-FF18C6112A8E}"/>
              </a:ext>
            </a:extLst>
          </p:cNvPr>
          <p:cNvSpPr>
            <a:spLocks noGrp="1"/>
          </p:cNvSpPr>
          <p:nvPr>
            <p:ph type="sldNum" sz="quarter" idx="10"/>
          </p:nvPr>
        </p:nvSpPr>
        <p:spPr/>
        <p:txBody>
          <a:bodyPr/>
          <a:lstStyle/>
          <a:p>
            <a:fld id="{A9A0EA98-5831-4853-B862-C702E6EB345C}" type="slidenum">
              <a:rPr lang="en-US" smtClean="0"/>
              <a:pPr/>
              <a:t>10</a:t>
            </a:fld>
            <a:endParaRPr lang="en-US"/>
          </a:p>
        </p:txBody>
      </p:sp>
    </p:spTree>
    <p:extLst>
      <p:ext uri="{BB962C8B-B14F-4D97-AF65-F5344CB8AC3E}">
        <p14:creationId xmlns:p14="http://schemas.microsoft.com/office/powerpoint/2010/main" val="339565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41AE3-65C5-C3F8-A072-566FE2C08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61808-3EDA-5281-29E4-60312B36D11A}"/>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886A9488-E032-0B40-7D39-8A9ACA1682B2}"/>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38FD6B3-969C-5186-289C-8AEEC44BB5F3}"/>
              </a:ext>
            </a:extLst>
          </p:cNvPr>
          <p:cNvSpPr>
            <a:spLocks noGrp="1"/>
          </p:cNvSpPr>
          <p:nvPr>
            <p:ph type="sldNum" sz="quarter" idx="10"/>
          </p:nvPr>
        </p:nvSpPr>
        <p:spPr/>
        <p:txBody>
          <a:bodyPr/>
          <a:lstStyle/>
          <a:p>
            <a:fld id="{A9A0EA98-5831-4853-B862-C702E6EB345C}" type="slidenum">
              <a:rPr lang="en-US" smtClean="0"/>
              <a:pPr/>
              <a:t>11</a:t>
            </a:fld>
            <a:endParaRPr lang="en-US"/>
          </a:p>
        </p:txBody>
      </p:sp>
    </p:spTree>
    <p:extLst>
      <p:ext uri="{BB962C8B-B14F-4D97-AF65-F5344CB8AC3E}">
        <p14:creationId xmlns:p14="http://schemas.microsoft.com/office/powerpoint/2010/main" val="977542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75B84-0E1D-7EEA-C7A9-1CAA39B04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CA73C-72C6-763F-6020-D5041BCF54F5}"/>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D33A906B-918E-79AA-2C2B-F7B71B4C15ED}"/>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8B1E2E58-E01E-FC51-F8F6-18845F05003D}"/>
              </a:ext>
            </a:extLst>
          </p:cNvPr>
          <p:cNvSpPr>
            <a:spLocks noGrp="1"/>
          </p:cNvSpPr>
          <p:nvPr>
            <p:ph type="sldNum" sz="quarter" idx="10"/>
          </p:nvPr>
        </p:nvSpPr>
        <p:spPr/>
        <p:txBody>
          <a:bodyPr/>
          <a:lstStyle/>
          <a:p>
            <a:fld id="{A9A0EA98-5831-4853-B862-C702E6EB345C}" type="slidenum">
              <a:rPr lang="en-US" smtClean="0"/>
              <a:pPr/>
              <a:t>12</a:t>
            </a:fld>
            <a:endParaRPr lang="en-US"/>
          </a:p>
        </p:txBody>
      </p:sp>
    </p:spTree>
    <p:extLst>
      <p:ext uri="{BB962C8B-B14F-4D97-AF65-F5344CB8AC3E}">
        <p14:creationId xmlns:p14="http://schemas.microsoft.com/office/powerpoint/2010/main" val="3226299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A7B22-8EFF-A8EE-6FA1-BBA20887B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403EB-D0A0-F4C7-F80E-F7B109BECEDD}"/>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49A83537-7817-123B-A718-7A49AC2EE4D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669A5BC-D2EA-8A5D-433B-6CB80F2FE74F}"/>
              </a:ext>
            </a:extLst>
          </p:cNvPr>
          <p:cNvSpPr>
            <a:spLocks noGrp="1"/>
          </p:cNvSpPr>
          <p:nvPr>
            <p:ph type="sldNum" sz="quarter" idx="10"/>
          </p:nvPr>
        </p:nvSpPr>
        <p:spPr/>
        <p:txBody>
          <a:bodyPr/>
          <a:lstStyle/>
          <a:p>
            <a:fld id="{A9A0EA98-5831-4853-B862-C702E6EB345C}" type="slidenum">
              <a:rPr lang="en-US" smtClean="0"/>
              <a:pPr/>
              <a:t>13</a:t>
            </a:fld>
            <a:endParaRPr lang="en-US"/>
          </a:p>
        </p:txBody>
      </p:sp>
    </p:spTree>
    <p:extLst>
      <p:ext uri="{BB962C8B-B14F-4D97-AF65-F5344CB8AC3E}">
        <p14:creationId xmlns:p14="http://schemas.microsoft.com/office/powerpoint/2010/main" val="980943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5CCA-FDD9-BA94-A60E-E7BA79B05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1626F-8A18-F35C-189A-DC404B3C7A10}"/>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63A00C2D-7C3B-FC2A-4E1C-8E46B8F8B135}"/>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D713CF8-EA2D-A3BF-F18A-2D048138AB2D}"/>
              </a:ext>
            </a:extLst>
          </p:cNvPr>
          <p:cNvSpPr>
            <a:spLocks noGrp="1"/>
          </p:cNvSpPr>
          <p:nvPr>
            <p:ph type="sldNum" sz="quarter" idx="10"/>
          </p:nvPr>
        </p:nvSpPr>
        <p:spPr/>
        <p:txBody>
          <a:bodyPr/>
          <a:lstStyle/>
          <a:p>
            <a:fld id="{A9A0EA98-5831-4853-B862-C702E6EB345C}" type="slidenum">
              <a:rPr lang="en-US" smtClean="0"/>
              <a:pPr/>
              <a:t>14</a:t>
            </a:fld>
            <a:endParaRPr lang="en-US"/>
          </a:p>
        </p:txBody>
      </p:sp>
    </p:spTree>
    <p:extLst>
      <p:ext uri="{BB962C8B-B14F-4D97-AF65-F5344CB8AC3E}">
        <p14:creationId xmlns:p14="http://schemas.microsoft.com/office/powerpoint/2010/main" val="761569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lstStyle/>
          <a:p>
            <a:fld id="{325A7EAD-48CD-854E-8F50-F90A47B1BB6E}" type="datetime1">
              <a:rPr lang="en-US" smtClean="0"/>
              <a:t>5/18/26</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0" name="Title 1"/>
          <p:cNvSpPr>
            <a:spLocks noGrp="1"/>
          </p:cNvSpPr>
          <p:nvPr>
            <p:ph type="title"/>
          </p:nvPr>
        </p:nvSpPr>
        <p:spPr/>
        <p:txBody>
          <a:bodyPr/>
          <a:lstStyle/>
          <a:p>
            <a:r>
              <a:rPr lang="en-US"/>
              <a:t>Click to edit Master title style</a:t>
            </a:r>
            <a:endParaRPr lang="en-IN"/>
          </a:p>
        </p:txBody>
      </p:sp>
      <p:sp>
        <p:nvSpPr>
          <p:cNvPr id="104866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2" name="Date Placeholder 3"/>
          <p:cNvSpPr>
            <a:spLocks noGrp="1"/>
          </p:cNvSpPr>
          <p:nvPr>
            <p:ph type="dt" sz="half" idx="10"/>
          </p:nvPr>
        </p:nvSpPr>
        <p:spPr/>
        <p:txBody>
          <a:bodyPr/>
          <a:lstStyle/>
          <a:p>
            <a:fld id="{53CB5AA6-E059-BF4F-AC1B-86CBE863E554}" type="datetime1">
              <a:rPr lang="en-US" smtClean="0"/>
              <a:t>5/18/26</a:t>
            </a:fld>
            <a:endParaRPr lang="en-IN"/>
          </a:p>
        </p:txBody>
      </p:sp>
      <p:sp>
        <p:nvSpPr>
          <p:cNvPr id="1048663" name="Footer Placeholder 4"/>
          <p:cNvSpPr>
            <a:spLocks noGrp="1"/>
          </p:cNvSpPr>
          <p:nvPr>
            <p:ph type="ftr" sz="quarter" idx="11"/>
          </p:nvPr>
        </p:nvSpPr>
        <p:spPr/>
        <p:txBody>
          <a:bodyPr/>
          <a:lstStyle/>
          <a:p>
            <a:endParaRPr lang="en-IN"/>
          </a:p>
        </p:txBody>
      </p:sp>
      <p:sp>
        <p:nvSpPr>
          <p:cNvPr id="1048664"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76"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7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78" name="Date Placeholder 3"/>
          <p:cNvSpPr>
            <a:spLocks noGrp="1"/>
          </p:cNvSpPr>
          <p:nvPr>
            <p:ph type="dt" sz="half" idx="10"/>
          </p:nvPr>
        </p:nvSpPr>
        <p:spPr/>
        <p:txBody>
          <a:bodyPr/>
          <a:lstStyle/>
          <a:p>
            <a:fld id="{46923932-4468-E147-8E84-37E90BA07751}" type="datetime1">
              <a:rPr lang="en-US" smtClean="0"/>
              <a:t>5/18/26</a:t>
            </a:fld>
            <a:endParaRPr lang="en-IN"/>
          </a:p>
        </p:txBody>
      </p:sp>
      <p:sp>
        <p:nvSpPr>
          <p:cNvPr id="1048679" name="Footer Placeholder 4"/>
          <p:cNvSpPr>
            <a:spLocks noGrp="1"/>
          </p:cNvSpPr>
          <p:nvPr>
            <p:ph type="ftr" sz="quarter" idx="11"/>
          </p:nvPr>
        </p:nvSpPr>
        <p:spPr/>
        <p:txBody>
          <a:bodyPr/>
          <a:lstStyle/>
          <a:p>
            <a:endParaRPr lang="en-IN"/>
          </a:p>
        </p:txBody>
      </p:sp>
      <p:sp>
        <p:nvSpPr>
          <p:cNvPr id="1048680"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1" name="Title 1"/>
          <p:cNvSpPr>
            <a:spLocks noGrp="1"/>
          </p:cNvSpPr>
          <p:nvPr>
            <p:ph type="title"/>
          </p:nvPr>
        </p:nvSpPr>
        <p:spPr/>
        <p:txBody>
          <a:bodyPr/>
          <a:lstStyle/>
          <a:p>
            <a:r>
              <a:rPr lang="en-US"/>
              <a:t>Click to edit Master title style</a:t>
            </a:r>
            <a:endParaRPr lang="en-IN"/>
          </a:p>
        </p:txBody>
      </p:sp>
      <p:sp>
        <p:nvSpPr>
          <p:cNvPr id="104868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4" name="Date Placeholder 4"/>
          <p:cNvSpPr>
            <a:spLocks noGrp="1"/>
          </p:cNvSpPr>
          <p:nvPr>
            <p:ph type="dt" sz="half" idx="10"/>
          </p:nvPr>
        </p:nvSpPr>
        <p:spPr/>
        <p:txBody>
          <a:bodyPr/>
          <a:lstStyle/>
          <a:p>
            <a:fld id="{19095586-EA31-EE40-8666-0F4C77239E1D}" type="datetime1">
              <a:rPr lang="en-US" smtClean="0"/>
              <a:t>5/18/26</a:t>
            </a:fld>
            <a:endParaRPr lang="en-IN"/>
          </a:p>
        </p:txBody>
      </p:sp>
      <p:sp>
        <p:nvSpPr>
          <p:cNvPr id="1048685" name="Footer Placeholder 5"/>
          <p:cNvSpPr>
            <a:spLocks noGrp="1"/>
          </p:cNvSpPr>
          <p:nvPr>
            <p:ph type="ftr" sz="quarter" idx="11"/>
          </p:nvPr>
        </p:nvSpPr>
        <p:spPr/>
        <p:txBody>
          <a:bodyPr/>
          <a:lstStyle/>
          <a:p>
            <a:endParaRPr lang="en-IN"/>
          </a:p>
        </p:txBody>
      </p:sp>
      <p:sp>
        <p:nvSpPr>
          <p:cNvPr id="1048686" name="Slide Number Placeholder 6"/>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87"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8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9"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0"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1"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2" name="Date Placeholder 6"/>
          <p:cNvSpPr>
            <a:spLocks noGrp="1"/>
          </p:cNvSpPr>
          <p:nvPr>
            <p:ph type="dt" sz="half" idx="10"/>
          </p:nvPr>
        </p:nvSpPr>
        <p:spPr/>
        <p:txBody>
          <a:bodyPr/>
          <a:lstStyle/>
          <a:p>
            <a:fld id="{F6113491-233D-6449-B331-96E7A063AC52}" type="datetime1">
              <a:rPr lang="en-US" smtClean="0"/>
              <a:t>5/18/26</a:t>
            </a:fld>
            <a:endParaRPr lang="en-IN"/>
          </a:p>
        </p:txBody>
      </p:sp>
      <p:sp>
        <p:nvSpPr>
          <p:cNvPr id="1048693" name="Footer Placeholder 7"/>
          <p:cNvSpPr>
            <a:spLocks noGrp="1"/>
          </p:cNvSpPr>
          <p:nvPr>
            <p:ph type="ftr" sz="quarter" idx="11"/>
          </p:nvPr>
        </p:nvSpPr>
        <p:spPr/>
        <p:txBody>
          <a:bodyPr/>
          <a:lstStyle/>
          <a:p>
            <a:endParaRPr lang="en-IN"/>
          </a:p>
        </p:txBody>
      </p:sp>
      <p:sp>
        <p:nvSpPr>
          <p:cNvPr id="1048694" name="Slide Number Placeholder 8"/>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endParaRPr lang="en-IN"/>
          </a:p>
        </p:txBody>
      </p:sp>
      <p:sp>
        <p:nvSpPr>
          <p:cNvPr id="1048652" name="Date Placeholder 2"/>
          <p:cNvSpPr>
            <a:spLocks noGrp="1"/>
          </p:cNvSpPr>
          <p:nvPr>
            <p:ph type="dt" sz="half" idx="10"/>
          </p:nvPr>
        </p:nvSpPr>
        <p:spPr/>
        <p:txBody>
          <a:bodyPr/>
          <a:lstStyle/>
          <a:p>
            <a:fld id="{BAE08A49-EA91-C741-9B5D-13DF16F9167B}" type="datetime1">
              <a:rPr lang="en-US" smtClean="0"/>
              <a:t>5/18/26</a:t>
            </a:fld>
            <a:endParaRPr lang="en-IN"/>
          </a:p>
        </p:txBody>
      </p:sp>
      <p:sp>
        <p:nvSpPr>
          <p:cNvPr id="1048653" name="Footer Placeholder 3"/>
          <p:cNvSpPr>
            <a:spLocks noGrp="1"/>
          </p:cNvSpPr>
          <p:nvPr>
            <p:ph type="ftr" sz="quarter" idx="11"/>
          </p:nvPr>
        </p:nvSpPr>
        <p:spPr/>
        <p:txBody>
          <a:bodyPr/>
          <a:lstStyle/>
          <a:p>
            <a:endParaRPr lang="en-IN"/>
          </a:p>
        </p:txBody>
      </p:sp>
      <p:sp>
        <p:nvSpPr>
          <p:cNvPr id="1048654" name="Slide Number Placeholder 4"/>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95" name="Date Placeholder 1"/>
          <p:cNvSpPr>
            <a:spLocks noGrp="1"/>
          </p:cNvSpPr>
          <p:nvPr>
            <p:ph type="dt" sz="half" idx="10"/>
          </p:nvPr>
        </p:nvSpPr>
        <p:spPr/>
        <p:txBody>
          <a:bodyPr/>
          <a:lstStyle/>
          <a:p>
            <a:fld id="{206F8C14-27D0-C348-B670-8E610488DDCB}" type="datetime1">
              <a:rPr lang="en-US" smtClean="0"/>
              <a:t>5/18/26</a:t>
            </a:fld>
            <a:endParaRPr lang="en-IN"/>
          </a:p>
        </p:txBody>
      </p:sp>
      <p:sp>
        <p:nvSpPr>
          <p:cNvPr id="1048696" name="Footer Placeholder 2"/>
          <p:cNvSpPr>
            <a:spLocks noGrp="1"/>
          </p:cNvSpPr>
          <p:nvPr>
            <p:ph type="ftr" sz="quarter" idx="11"/>
          </p:nvPr>
        </p:nvSpPr>
        <p:spPr/>
        <p:txBody>
          <a:bodyPr/>
          <a:lstStyle/>
          <a:p>
            <a:endParaRPr lang="en-IN"/>
          </a:p>
        </p:txBody>
      </p:sp>
      <p:sp>
        <p:nvSpPr>
          <p:cNvPr id="1048697" name="Slide Number Placeholder 3"/>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8"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99"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0"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1" name="Date Placeholder 4"/>
          <p:cNvSpPr>
            <a:spLocks noGrp="1"/>
          </p:cNvSpPr>
          <p:nvPr>
            <p:ph type="dt" sz="half" idx="10"/>
          </p:nvPr>
        </p:nvSpPr>
        <p:spPr/>
        <p:txBody>
          <a:bodyPr/>
          <a:lstStyle/>
          <a:p>
            <a:fld id="{DBB95011-B19B-014C-9920-9B2627AFF89C}" type="datetime1">
              <a:rPr lang="en-US" smtClean="0"/>
              <a:t>5/18/26</a:t>
            </a:fld>
            <a:endParaRPr lang="en-IN"/>
          </a:p>
        </p:txBody>
      </p:sp>
      <p:sp>
        <p:nvSpPr>
          <p:cNvPr id="1048702" name="Footer Placeholder 5"/>
          <p:cNvSpPr>
            <a:spLocks noGrp="1"/>
          </p:cNvSpPr>
          <p:nvPr>
            <p:ph type="ftr" sz="quarter" idx="11"/>
          </p:nvPr>
        </p:nvSpPr>
        <p:spPr/>
        <p:txBody>
          <a:bodyPr/>
          <a:lstStyle/>
          <a:p>
            <a:endParaRPr lang="en-IN"/>
          </a:p>
        </p:txBody>
      </p:sp>
      <p:sp>
        <p:nvSpPr>
          <p:cNvPr id="1048703" name="Slide Number Placeholder 6"/>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6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66"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6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68" name="Date Placeholder 4"/>
          <p:cNvSpPr>
            <a:spLocks noGrp="1"/>
          </p:cNvSpPr>
          <p:nvPr>
            <p:ph type="dt" sz="half" idx="10"/>
          </p:nvPr>
        </p:nvSpPr>
        <p:spPr/>
        <p:txBody>
          <a:bodyPr/>
          <a:lstStyle/>
          <a:p>
            <a:fld id="{E9584B8D-B9AF-594F-B53D-F9291FA252FF}" type="datetime1">
              <a:rPr lang="en-US" smtClean="0"/>
              <a:t>5/18/26</a:t>
            </a:fld>
            <a:endParaRPr lang="en-IN"/>
          </a:p>
        </p:txBody>
      </p:sp>
      <p:sp>
        <p:nvSpPr>
          <p:cNvPr id="1048669" name="Footer Placeholder 5"/>
          <p:cNvSpPr>
            <a:spLocks noGrp="1"/>
          </p:cNvSpPr>
          <p:nvPr>
            <p:ph type="ftr" sz="quarter" idx="11"/>
          </p:nvPr>
        </p:nvSpPr>
        <p:spPr/>
        <p:txBody>
          <a:bodyPr/>
          <a:lstStyle/>
          <a:p>
            <a:endParaRPr lang="en-IN"/>
          </a:p>
        </p:txBody>
      </p:sp>
      <p:sp>
        <p:nvSpPr>
          <p:cNvPr id="1048670" name="Slide Number Placeholder 6"/>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a:t>Click to edit Master title style</a:t>
            </a:r>
            <a:endParaRPr lang="en-IN"/>
          </a:p>
        </p:txBody>
      </p:sp>
      <p:sp>
        <p:nvSpPr>
          <p:cNvPr id="104867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3" name="Date Placeholder 3"/>
          <p:cNvSpPr>
            <a:spLocks noGrp="1"/>
          </p:cNvSpPr>
          <p:nvPr>
            <p:ph type="dt" sz="half" idx="10"/>
          </p:nvPr>
        </p:nvSpPr>
        <p:spPr/>
        <p:txBody>
          <a:bodyPr/>
          <a:lstStyle/>
          <a:p>
            <a:fld id="{EA202365-8C13-944D-AA87-A8455CD4D165}" type="datetime1">
              <a:rPr lang="en-US" smtClean="0"/>
              <a:t>5/18/26</a:t>
            </a:fld>
            <a:endParaRPr lang="en-IN"/>
          </a:p>
        </p:txBody>
      </p:sp>
      <p:sp>
        <p:nvSpPr>
          <p:cNvPr id="1048674" name="Footer Placeholder 4"/>
          <p:cNvSpPr>
            <a:spLocks noGrp="1"/>
          </p:cNvSpPr>
          <p:nvPr>
            <p:ph type="ftr" sz="quarter" idx="11"/>
          </p:nvPr>
        </p:nvSpPr>
        <p:spPr/>
        <p:txBody>
          <a:bodyPr/>
          <a:lstStyle/>
          <a:p>
            <a:endParaRPr lang="en-IN"/>
          </a:p>
        </p:txBody>
      </p:sp>
      <p:sp>
        <p:nvSpPr>
          <p:cNvPr id="1048675"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5"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56"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7" name="Date Placeholder 3"/>
          <p:cNvSpPr>
            <a:spLocks noGrp="1"/>
          </p:cNvSpPr>
          <p:nvPr>
            <p:ph type="dt" sz="half" idx="10"/>
          </p:nvPr>
        </p:nvSpPr>
        <p:spPr/>
        <p:txBody>
          <a:bodyPr/>
          <a:lstStyle/>
          <a:p>
            <a:fld id="{5D29661D-26B9-6848-897E-546262BC7C49}" type="datetime1">
              <a:rPr lang="en-US" smtClean="0"/>
              <a:t>5/18/26</a:t>
            </a:fld>
            <a:endParaRPr lang="en-IN"/>
          </a:p>
        </p:txBody>
      </p:sp>
      <p:sp>
        <p:nvSpPr>
          <p:cNvPr id="1048658" name="Footer Placeholder 4"/>
          <p:cNvSpPr>
            <a:spLocks noGrp="1"/>
          </p:cNvSpPr>
          <p:nvPr>
            <p:ph type="ftr" sz="quarter" idx="11"/>
          </p:nvPr>
        </p:nvSpPr>
        <p:spPr/>
        <p:txBody>
          <a:bodyPr/>
          <a:lstStyle/>
          <a:p>
            <a:endParaRPr lang="en-IN"/>
          </a:p>
        </p:txBody>
      </p:sp>
      <p:sp>
        <p:nvSpPr>
          <p:cNvPr id="1048659"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5208C-0D48-1F45-8E0C-101AA1420B2D}" type="datetime1">
              <a:rPr lang="en-US" smtClean="0"/>
              <a:t>5/18/26</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89584D-E97D-47EB-8490-6F36AE36549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hyperlink" Target="https://journaljeai.com/index.php/JEAI/article/view/2115" TargetMode="External"/><Relationship Id="rId3" Type="http://schemas.openxmlformats.org/officeDocument/2006/relationships/image" Target="../media/image1.jpeg"/><Relationship Id="rId7" Type="http://schemas.openxmlformats.org/officeDocument/2006/relationships/hyperlink" Target="https://www.iosrjen.org/Papers/vol15_issue1/D15013544.pdf"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amrita.edu/publication/prototype-of-a-coconut-harvesting-robot-with-visual-feedback/" TargetMode="External"/><Relationship Id="rId5" Type="http://schemas.openxmlformats.org/officeDocument/2006/relationships/hyperlink" Target="https://www.sciencedirect.com/science/article/pii/S1877050916306135" TargetMode="External"/><Relationship Id="rId4" Type="http://schemas.openxmlformats.org/officeDocument/2006/relationships/image" Target="../media/image2.png"/><Relationship Id="rId9" Type="http://schemas.openxmlformats.org/officeDocument/2006/relationships/hyperlink" Target="https://www.jouav.com/blog/agriculture-drone.html"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cgiar.org/news-events/news/from-sky-to-soil-how-drones-are-revolutionizing-crop-monitoring" TargetMode="External"/><Relationship Id="rId3" Type="http://schemas.openxmlformats.org/officeDocument/2006/relationships/image" Target="../media/image1.jpeg"/><Relationship Id="rId7" Type="http://schemas.openxmlformats.org/officeDocument/2006/relationships/hyperlink" Target="https://www.frontiersin.org/journals/plant-science/articles/10.3389/fpls.2025.1552553/full"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nature.com/articles/s41598-024-65293-w" TargetMode="External"/><Relationship Id="rId5" Type="http://schemas.openxmlformats.org/officeDocument/2006/relationships/hyperlink" Target="https://thesai.org/Publications/ViewPaper?Volume=14&amp;Issue=12&amp;Code=IJACSA&amp;SerialNo=8" TargetMode="External"/><Relationship Id="rId10" Type="http://schemas.openxmlformats.org/officeDocument/2006/relationships/hyperlink" Target="https://equinoxsdrones.com/agriculture/" TargetMode="External"/><Relationship Id="rId4" Type="http://schemas.openxmlformats.org/officeDocument/2006/relationships/image" Target="../media/image2.png"/><Relationship Id="rId9" Type="http://schemas.openxmlformats.org/officeDocument/2006/relationships/hyperlink" Target="https://journalacri.com/index.php/ACRI/article/view/13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&amp;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p:cNvSpPr>
            <a:spLocks noChangeArrowheads="1"/>
          </p:cNvSpPr>
          <p:nvPr/>
        </p:nvSpPr>
        <p:spPr bwMode="auto">
          <a:xfrm>
            <a:off x="2128003" y="1648635"/>
            <a:ext cx="7773510" cy="954107"/>
          </a:xfrm>
          <a:prstGeom prst="rect">
            <a:avLst/>
          </a:prstGeom>
          <a:noFill/>
          <a:ln>
            <a:noFill/>
          </a:ln>
        </p:spPr>
        <p:txBody>
          <a:bodyPr wrap="square">
            <a:spAutoFit/>
          </a:bodyPr>
          <a:lstStyle/>
          <a:p>
            <a:pPr algn="ctr"/>
            <a:r>
              <a:rPr lang="en-US" altLang="en-US" sz="2800" b="1" dirty="0">
                <a:latin typeface="Times New Roman" panose="02020603050405020304" pitchFamily="18" charset="0"/>
                <a:cs typeface="Times New Roman" pitchFamily="18" charset="0"/>
              </a:rPr>
              <a:t> </a:t>
            </a:r>
            <a:r>
              <a:rPr lang="en-US" sz="2800" b="1" dirty="0">
                <a:latin typeface="Times New Roman" panose="02020603050405020304" pitchFamily="18" charset="0"/>
                <a:cs typeface="Times New Roman" panose="02020603050405020304" pitchFamily="18" charset="0"/>
              </a:rPr>
              <a:t>AI POWERED AUTONOMOUS COCONUT HARVESTING SYSTEM </a:t>
            </a:r>
            <a:endParaRPr lang="en-US" altLang="en-US" sz="2800" b="1" dirty="0">
              <a:latin typeface="Times New Roman" panose="02020603050405020304" pitchFamily="18" charset="0"/>
              <a:cs typeface="Times New Roman" pitchFamily="18" charset="0"/>
            </a:endParaRPr>
          </a:p>
        </p:txBody>
      </p:sp>
      <p:sp>
        <p:nvSpPr>
          <p:cNvPr id="1048591" name="Rectangle 150"/>
          <p:cNvSpPr>
            <a:spLocks noGrp="1" noChangeArrowheads="1"/>
          </p:cNvSpPr>
          <p:nvPr>
            <p:ph type="ctrTitle"/>
          </p:nvPr>
        </p:nvSpPr>
        <p:spPr>
          <a:xfrm>
            <a:off x="4215370" y="3259613"/>
            <a:ext cx="3753728" cy="1506406"/>
          </a:xfrm>
        </p:spPr>
        <p:txBody>
          <a:bodyPr anchor="ctr">
            <a:normAutofit fontScale="90000"/>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r>
              <a:rPr lang="en-IN" sz="1600" b="1" dirty="0">
                <a:latin typeface="Times New Roman" panose="02020603050405020304" pitchFamily="18" charset="0"/>
                <a:cs typeface="Times New Roman" panose="02020603050405020304" pitchFamily="18" charset="0"/>
              </a:rPr>
              <a:t>Akshatha G                      4VM23CS001 Mahesh S                          4VM23CS033 </a:t>
            </a:r>
            <a:br>
              <a:rPr lang="en-IN" sz="1600" b="1"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S Mohammed Maaz         4VM23CS043 </a:t>
            </a:r>
            <a:br>
              <a:rPr lang="en-IN" sz="1600" b="1"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Syeda Umme Haani         4VM23CS055</a:t>
            </a:r>
            <a:r>
              <a:rPr lang="es-ES" altLang="en-US" sz="1600" b="1" dirty="0">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1048593" name="TextBox 2"/>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58244" y="4655128"/>
            <a:ext cx="3847605" cy="1077218"/>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Under the guidance of</a:t>
            </a:r>
          </a:p>
          <a:p>
            <a:pPr algn="ctr"/>
            <a:r>
              <a:rPr lang="en-US" sz="1600" b="1" dirty="0">
                <a:latin typeface="Times New Roman" panose="02020603050405020304" pitchFamily="18" charset="0"/>
                <a:cs typeface="Times New Roman" panose="02020603050405020304" pitchFamily="18" charset="0"/>
              </a:rPr>
              <a:t> Dr. Madhu B K </a:t>
            </a:r>
          </a:p>
          <a:p>
            <a:pPr algn="ctr"/>
            <a:r>
              <a:rPr lang="en-US" sz="1600" b="1" dirty="0">
                <a:latin typeface="Times New Roman" panose="02020603050405020304" pitchFamily="18" charset="0"/>
                <a:cs typeface="Times New Roman" panose="02020603050405020304" pitchFamily="18" charset="0"/>
              </a:rPr>
              <a:t>Dean Of CSE</a:t>
            </a:r>
          </a:p>
          <a:p>
            <a:pPr algn="ctr"/>
            <a:r>
              <a:rPr lang="en-IN" sz="1600" b="1" dirty="0">
                <a:latin typeface="Times New Roman" panose="02020603050405020304" pitchFamily="18" charset="0"/>
                <a:cs typeface="Times New Roman" panose="02020603050405020304" pitchFamily="18" charset="0"/>
              </a:rPr>
              <a:t>VVIET</a:t>
            </a:r>
            <a:endParaRPr lang="en-US" sz="1600" b="1" kern="1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A0D3A1C-7E2F-00BA-2D49-12C8EEC731C3}"/>
              </a:ext>
            </a:extLst>
          </p:cNvPr>
          <p:cNvSpPr txBox="1"/>
          <p:nvPr/>
        </p:nvSpPr>
        <p:spPr>
          <a:xfrm>
            <a:off x="5116626" y="1255473"/>
            <a:ext cx="197192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Project on</a:t>
            </a:r>
            <a:endParaRPr lang="en-IN" sz="2000" dirty="0">
              <a:latin typeface="Times New Roman" panose="02020603050405020304" pitchFamily="18" charset="0"/>
              <a:cs typeface="Times New Roman" panose="02020603050405020304" pitchFamily="18" charset="0"/>
            </a:endParaRPr>
          </a:p>
        </p:txBody>
      </p:sp>
      <p:sp>
        <p:nvSpPr>
          <p:cNvPr id="3" name="Rectangle 150">
            <a:extLst>
              <a:ext uri="{FF2B5EF4-FFF2-40B4-BE49-F238E27FC236}">
                <a16:creationId xmlns:a16="http://schemas.microsoft.com/office/drawing/2014/main" id="{E15752E6-286A-9EC1-06A1-5181F1D0FEF7}"/>
              </a:ext>
            </a:extLst>
          </p:cNvPr>
          <p:cNvSpPr txBox="1">
            <a:spLocks noChangeArrowheads="1"/>
          </p:cNvSpPr>
          <p:nvPr/>
        </p:nvSpPr>
        <p:spPr>
          <a:xfrm>
            <a:off x="4137894" y="2727993"/>
            <a:ext cx="3753728" cy="384850"/>
          </a:xfrm>
          <a:prstGeom prst="rect">
            <a:avLst/>
          </a:prstGeom>
        </p:spPr>
        <p:txBody>
          <a:bodyPr vert="horz" lIns="91440" tIns="45720" rIns="91440" bIns="45720" rtlCol="0" anchor="ctr">
            <a:normAutofit fontScale="2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br>
              <a:rPr lang="es-ES" altLang="en-US" sz="1600" b="1" dirty="0">
                <a:latin typeface="Times New Roman" pitchFamily="18" charset="0"/>
                <a:cs typeface="Times New Roman" pitchFamily="18" charset="0"/>
              </a:rPr>
            </a:br>
            <a:r>
              <a:rPr lang="es-ES" altLang="en-US" sz="6400" b="1" dirty="0">
                <a:latin typeface="Times New Roman" pitchFamily="18" charset="0"/>
                <a:cs typeface="Times New Roman" pitchFamily="18" charset="0"/>
              </a:rPr>
              <a:t>PRESENTED BY</a:t>
            </a:r>
            <a:endParaRPr lang="zh-CN" altLang="en-US" sz="6400" dirty="0"/>
          </a:p>
        </p:txBody>
      </p:sp>
      <p:pic>
        <p:nvPicPr>
          <p:cNvPr id="5" name="Picture 7">
            <a:extLst>
              <a:ext uri="{FF2B5EF4-FFF2-40B4-BE49-F238E27FC236}">
                <a16:creationId xmlns:a16="http://schemas.microsoft.com/office/drawing/2014/main" id="{33429B18-53E9-5C77-849B-3F6ACE97A6EC}"/>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pic>
        <p:nvPicPr>
          <p:cNvPr id="7" name="Picture 3">
            <a:extLst>
              <a:ext uri="{FF2B5EF4-FFF2-40B4-BE49-F238E27FC236}">
                <a16:creationId xmlns:a16="http://schemas.microsoft.com/office/drawing/2014/main" id="{0ECB9499-E388-C685-4CDB-64AE0C1115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8">
            <a:extLst>
              <a:ext uri="{FF2B5EF4-FFF2-40B4-BE49-F238E27FC236}">
                <a16:creationId xmlns:a16="http://schemas.microsoft.com/office/drawing/2014/main" id="{18322EA5-A831-1A76-030B-F502A8B7CDA6}"/>
              </a:ext>
            </a:extLst>
          </p:cNvPr>
          <p:cNvSpPr>
            <a:spLocks noGrp="1"/>
          </p:cNvSpPr>
          <p:nvPr>
            <p:ph type="ftr" sz="quarter" idx="11"/>
          </p:nvPr>
        </p:nvSpPr>
        <p:spPr/>
        <p:txBody>
          <a:bodyPr/>
          <a:lstStyle/>
          <a:p>
            <a:endParaRPr lang="en-IN"/>
          </a:p>
        </p:txBody>
      </p:sp>
      <p:sp>
        <p:nvSpPr>
          <p:cNvPr id="10" name="Slide Number Placeholder 9">
            <a:extLst>
              <a:ext uri="{FF2B5EF4-FFF2-40B4-BE49-F238E27FC236}">
                <a16:creationId xmlns:a16="http://schemas.microsoft.com/office/drawing/2014/main" id="{35767F1E-FE85-515A-7E99-A56E22E58A00}"/>
              </a:ext>
            </a:extLst>
          </p:cNvPr>
          <p:cNvSpPr>
            <a:spLocks noGrp="1"/>
          </p:cNvSpPr>
          <p:nvPr>
            <p:ph type="sldNum" sz="quarter" idx="12"/>
          </p:nvPr>
        </p:nvSpPr>
        <p:spPr>
          <a:noFill/>
        </p:spPr>
        <p:txBody>
          <a:bodyPr/>
          <a:lstStyle/>
          <a:p>
            <a:fld id="{8C89584D-E97D-47EB-8490-6F36AE365490}" type="slidenum">
              <a:rPr lang="en-IN" smtClean="0"/>
              <a:pPr/>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u="sng" dirty="0">
                <a:latin typeface="Times New Roman" panose="02020603050405020304" pitchFamily="18" charset="0"/>
                <a:cs typeface="Times New Roman" panose="02020603050405020304" pitchFamily="18" charset="0"/>
              </a:rPr>
              <a:t>CONTENTS</a:t>
            </a:r>
            <a:endParaRPr lang="en-US" sz="2000" dirty="0"/>
          </a:p>
        </p:txBody>
      </p:sp>
      <p:sp>
        <p:nvSpPr>
          <p:cNvPr id="1048593" name="TextBox 2"/>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997527" y="1543792"/>
            <a:ext cx="3978234" cy="3781997"/>
          </a:xfrm>
          <a:prstGeom prst="rect">
            <a:avLst/>
          </a:prstGeom>
          <a:noFill/>
        </p:spPr>
        <p:txBody>
          <a:bodyPr wrap="square" rtlCol="0">
            <a:spAutoFit/>
          </a:bodyPr>
          <a:lstStyle/>
          <a:p>
            <a:pPr>
              <a:lnSpc>
                <a:spcPct val="150000"/>
              </a:lnSpc>
              <a:buFont typeface="Arial" pitchFamily="34" charset="0"/>
              <a:buChar char="•"/>
            </a:pPr>
            <a:r>
              <a:rPr lang="en-IN" dirty="0">
                <a:latin typeface="Times New Roman" pitchFamily="18" charset="0"/>
                <a:cs typeface="Times New Roman" pitchFamily="18" charset="0"/>
              </a:rPr>
              <a:t> Introduction</a:t>
            </a:r>
          </a:p>
          <a:p>
            <a:pPr>
              <a:lnSpc>
                <a:spcPct val="150000"/>
              </a:lnSpc>
              <a:buFont typeface="Arial" pitchFamily="34" charset="0"/>
              <a:buChar char="•"/>
            </a:pPr>
            <a:r>
              <a:rPr lang="en-US" dirty="0">
                <a:latin typeface="Times New Roman" panose="02020603050405020304" pitchFamily="18" charset="0"/>
                <a:cs typeface="Times New Roman" panose="02020603050405020304" pitchFamily="18" charset="0"/>
              </a:rPr>
              <a:t> Review of Literature</a:t>
            </a:r>
            <a:endParaRPr lang="en-IN" dirty="0">
              <a:latin typeface="Times New Roman" panose="02020603050405020304" pitchFamily="18" charset="0"/>
              <a:cs typeface="Times New Roman" panose="02020603050405020304" pitchFamily="18" charset="0"/>
            </a:endParaRP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Problem Statement</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Objectives</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Methodology</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Software and Hardware Requirements</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Advantages</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Expected Outcome</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References </a:t>
            </a:r>
          </a:p>
        </p:txBody>
      </p:sp>
      <p:pic>
        <p:nvPicPr>
          <p:cNvPr id="2" name="Picture 7">
            <a:extLst>
              <a:ext uri="{FF2B5EF4-FFF2-40B4-BE49-F238E27FC236}">
                <a16:creationId xmlns:a16="http://schemas.microsoft.com/office/drawing/2014/main" id="{140C6F1D-26EF-9C95-E9DE-FDE468ED15E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pic>
        <p:nvPicPr>
          <p:cNvPr id="3" name="Picture 3">
            <a:extLst>
              <a:ext uri="{FF2B5EF4-FFF2-40B4-BE49-F238E27FC236}">
                <a16:creationId xmlns:a16="http://schemas.microsoft.com/office/drawing/2014/main" id="{3D1EF549-6A66-49D5-D32C-2D4E0D5CF2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8EC6956B-98E9-8635-F92A-F470F4EA6A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BDEED9-95DF-02B5-49A7-7F161F7DD12F}"/>
              </a:ext>
            </a:extLst>
          </p:cNvPr>
          <p:cNvSpPr>
            <a:spLocks noGrp="1"/>
          </p:cNvSpPr>
          <p:nvPr>
            <p:ph type="sldNum" sz="quarter" idx="12"/>
          </p:nvPr>
        </p:nvSpPr>
        <p:spPr/>
        <p:txBody>
          <a:bodyPr/>
          <a:lstStyle/>
          <a:p>
            <a:fld id="{8C89584D-E97D-47EB-8490-6F36AE365490}"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INTRODUCTION</a:t>
            </a:r>
            <a:endParaRPr lang="en-US" sz="2000" b="1" u="sng" dirty="0">
              <a:latin typeface="Times New Roman" panose="02020603050405020304" pitchFamily="18" charset="0"/>
              <a:cs typeface="Times New Roman" panose="02020603050405020304" pitchFamily="18" charset="0"/>
            </a:endParaRPr>
          </a:p>
        </p:txBody>
      </p:sp>
      <p:sp>
        <p:nvSpPr>
          <p:cNvPr id="1048593" name="TextBox 2"/>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sp>
        <p:nvSpPr>
          <p:cNvPr id="2" name="Rectangle 150">
            <a:extLst>
              <a:ext uri="{FF2B5EF4-FFF2-40B4-BE49-F238E27FC236}">
                <a16:creationId xmlns:a16="http://schemas.microsoft.com/office/drawing/2014/main" id="{B9847655-0635-D45B-5CD6-EF911C12466E}"/>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F5926D1B-6605-FEA4-4F24-8BA9471EDB78}"/>
              </a:ext>
            </a:extLst>
          </p:cNvPr>
          <p:cNvSpPr txBox="1"/>
          <p:nvPr/>
        </p:nvSpPr>
        <p:spPr>
          <a:xfrm>
            <a:off x="1002067" y="2521059"/>
            <a:ext cx="10405241" cy="1569660"/>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India harvests nearly five billion coconuts annually, but coconut farming still depends heavily on manual tree climbing, which is risky, </a:t>
            </a:r>
            <a:r>
              <a:rPr lang="en-US" sz="1600" dirty="0" err="1">
                <a:latin typeface="Times New Roman" panose="02020603050405020304" pitchFamily="18" charset="0"/>
                <a:cs typeface="Times New Roman" panose="02020603050405020304" pitchFamily="18" charset="0"/>
              </a:rPr>
              <a:t>labour-intensive</a:t>
            </a:r>
            <a:r>
              <a:rPr lang="en-US" sz="1600" dirty="0">
                <a:latin typeface="Times New Roman" panose="02020603050405020304" pitchFamily="18" charset="0"/>
                <a:cs typeface="Times New Roman" panose="02020603050405020304" pitchFamily="18" charset="0"/>
              </a:rPr>
              <a:t>, and increasingly affected by skilled worker shortages.</a:t>
            </a:r>
          </a:p>
          <a:p>
            <a:pPr algn="just"/>
            <a:r>
              <a:rPr lang="en-US" sz="1600" dirty="0">
                <a:latin typeface="Times New Roman" panose="02020603050405020304" pitchFamily="18" charset="0"/>
                <a:cs typeface="Times New Roman" panose="02020603050405020304" pitchFamily="18" charset="0"/>
              </a:rPr>
              <a:t>Our AI-Powered Coconut Harvesting System combines drone imaging, AI-based tree and coconut detection, a tree-climbing harvesting robot, and a real-time web dashboard to automate safe and targeted harvesting. The system detects trees, classifies coconuts by ripeness, creates automated harvest tasks, and enables the robot to harvest only the required coconuts, improving safety, reducing </a:t>
            </a:r>
            <a:r>
              <a:rPr lang="en-US" sz="1600" dirty="0" err="1">
                <a:latin typeface="Times New Roman" panose="02020603050405020304" pitchFamily="18" charset="0"/>
                <a:cs typeface="Times New Roman" panose="02020603050405020304" pitchFamily="18" charset="0"/>
              </a:rPr>
              <a:t>labour</a:t>
            </a:r>
            <a:r>
              <a:rPr lang="en-US" sz="1600" dirty="0">
                <a:latin typeface="Times New Roman" panose="02020603050405020304" pitchFamily="18" charset="0"/>
                <a:cs typeface="Times New Roman" panose="02020603050405020304" pitchFamily="18" charset="0"/>
              </a:rPr>
              <a:t> dependency, and increasing efficiency in smart agriculture.</a:t>
            </a:r>
          </a:p>
        </p:txBody>
      </p:sp>
      <p:pic>
        <p:nvPicPr>
          <p:cNvPr id="3" name="Picture 7">
            <a:extLst>
              <a:ext uri="{FF2B5EF4-FFF2-40B4-BE49-F238E27FC236}">
                <a16:creationId xmlns:a16="http://schemas.microsoft.com/office/drawing/2014/main" id="{C915E970-2B44-5F8F-2E0A-E83905D6B5D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pic>
        <p:nvPicPr>
          <p:cNvPr id="5" name="Picture 3">
            <a:extLst>
              <a:ext uri="{FF2B5EF4-FFF2-40B4-BE49-F238E27FC236}">
                <a16:creationId xmlns:a16="http://schemas.microsoft.com/office/drawing/2014/main" id="{09DBF86E-DEAD-0C10-C9F7-7F7356006E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421CFD25-E558-232D-46D4-3A329132CE3D}"/>
              </a:ext>
            </a:extLst>
          </p:cNvPr>
          <p:cNvSpPr>
            <a:spLocks noGrp="1"/>
          </p:cNvSpPr>
          <p:nvPr>
            <p:ph type="ftr" sz="quarter" idx="11"/>
          </p:nvPr>
        </p:nvSpPr>
        <p:spPr/>
        <p:txBody>
          <a:bodyPr/>
          <a:lstStyle/>
          <a:p>
            <a:endParaRPr lang="en-IN"/>
          </a:p>
        </p:txBody>
      </p:sp>
      <p:sp>
        <p:nvSpPr>
          <p:cNvPr id="8" name="Slide Number Placeholder 7">
            <a:extLst>
              <a:ext uri="{FF2B5EF4-FFF2-40B4-BE49-F238E27FC236}">
                <a16:creationId xmlns:a16="http://schemas.microsoft.com/office/drawing/2014/main" id="{7757BF6A-A3B6-D9A7-B749-BAB167FBE888}"/>
              </a:ext>
            </a:extLst>
          </p:cNvPr>
          <p:cNvSpPr>
            <a:spLocks noGrp="1"/>
          </p:cNvSpPr>
          <p:nvPr>
            <p:ph type="sldNum" sz="quarter" idx="12"/>
          </p:nvPr>
        </p:nvSpPr>
        <p:spPr/>
        <p:txBody>
          <a:bodyPr/>
          <a:lstStyle/>
          <a:p>
            <a:fld id="{8C89584D-E97D-47EB-8490-6F36AE365490}" type="slidenum">
              <a:rPr lang="en-IN" smtClean="0"/>
              <a:pPr/>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F42D-E65B-B37F-A00F-994D37FEE700}"/>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5BFCD54E-46D8-549B-FD9C-ED7C4C003182}"/>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1BF01C5D-4CDA-D713-CA6A-8DA05E3C94CD}"/>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EFEA0C61-6A9D-7D70-2220-C92FDCD4859B}"/>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3BC0F93E-F578-E713-444A-9F47E66E45D0}"/>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93053BC5-DBF4-1500-B62E-5DA3038C45AB}"/>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4291563B-FCC1-9D52-184C-096B33058CD7}"/>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LITERATURE SURVEY </a:t>
            </a:r>
          </a:p>
        </p:txBody>
      </p:sp>
      <p:sp>
        <p:nvSpPr>
          <p:cNvPr id="1048593" name="TextBox 2">
            <a:extLst>
              <a:ext uri="{FF2B5EF4-FFF2-40B4-BE49-F238E27FC236}">
                <a16:creationId xmlns:a16="http://schemas.microsoft.com/office/drawing/2014/main" id="{04CCCF87-5B8E-3E69-B0F9-DA93E5081160}"/>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91619F3F-8A14-A48D-2311-82B955A41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CCBDFB09-0BB5-BE97-A144-4DEC2616BC48}"/>
              </a:ext>
            </a:extLst>
          </p:cNvPr>
          <p:cNvGraphicFramePr>
            <a:graphicFrameLocks noGrp="1"/>
          </p:cNvGraphicFramePr>
          <p:nvPr>
            <p:extLst>
              <p:ext uri="{D42A27DB-BD31-4B8C-83A1-F6EECF244321}">
                <p14:modId xmlns:p14="http://schemas.microsoft.com/office/powerpoint/2010/main" val="1580697876"/>
              </p:ext>
            </p:extLst>
          </p:nvPr>
        </p:nvGraphicFramePr>
        <p:xfrm>
          <a:off x="463638" y="1719125"/>
          <a:ext cx="11316683" cy="4659131"/>
        </p:xfrm>
        <a:graphic>
          <a:graphicData uri="http://schemas.openxmlformats.org/drawingml/2006/table">
            <a:tbl>
              <a:tblPr/>
              <a:tblGrid>
                <a:gridCol w="714020">
                  <a:extLst>
                    <a:ext uri="{9D8B030D-6E8A-4147-A177-3AD203B41FA5}">
                      <a16:colId xmlns:a16="http://schemas.microsoft.com/office/drawing/2014/main" val="255211604"/>
                    </a:ext>
                  </a:extLst>
                </a:gridCol>
                <a:gridCol w="2105126">
                  <a:extLst>
                    <a:ext uri="{9D8B030D-6E8A-4147-A177-3AD203B41FA5}">
                      <a16:colId xmlns:a16="http://schemas.microsoft.com/office/drawing/2014/main" val="1490224512"/>
                    </a:ext>
                  </a:extLst>
                </a:gridCol>
                <a:gridCol w="3360816">
                  <a:extLst>
                    <a:ext uri="{9D8B030D-6E8A-4147-A177-3AD203B41FA5}">
                      <a16:colId xmlns:a16="http://schemas.microsoft.com/office/drawing/2014/main" val="754482744"/>
                    </a:ext>
                  </a:extLst>
                </a:gridCol>
                <a:gridCol w="2873385">
                  <a:extLst>
                    <a:ext uri="{9D8B030D-6E8A-4147-A177-3AD203B41FA5}">
                      <a16:colId xmlns:a16="http://schemas.microsoft.com/office/drawing/2014/main" val="2566050639"/>
                    </a:ext>
                  </a:extLst>
                </a:gridCol>
                <a:gridCol w="2263336">
                  <a:extLst>
                    <a:ext uri="{9D8B030D-6E8A-4147-A177-3AD203B41FA5}">
                      <a16:colId xmlns:a16="http://schemas.microsoft.com/office/drawing/2014/main" val="1263076620"/>
                    </a:ext>
                  </a:extLst>
                </a:gridCol>
              </a:tblGrid>
              <a:tr h="603991">
                <a:tc>
                  <a:txBody>
                    <a:bodyPr/>
                    <a:lstStyle/>
                    <a:p>
                      <a:pPr algn="just">
                        <a:buNone/>
                      </a:pPr>
                      <a:r>
                        <a:rPr lang="en-US" sz="1600" b="1" dirty="0">
                          <a:latin typeface="Times New Roman" panose="02020603050405020304" pitchFamily="18" charset="0"/>
                          <a:cs typeface="Times New Roman" panose="02020603050405020304" pitchFamily="18" charset="0"/>
                        </a:rPr>
                        <a:t>SL. NO</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just">
                        <a:buNone/>
                      </a:pPr>
                      <a:r>
                        <a:rPr lang="en-US" sz="1600" b="1" dirty="0">
                          <a:latin typeface="Times New Roman" panose="02020603050405020304" pitchFamily="18" charset="0"/>
                          <a:cs typeface="Times New Roman" panose="02020603050405020304" pitchFamily="18" charset="0"/>
                        </a:rPr>
                        <a:t>Author Name, Year of Publication</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just">
                        <a:buNone/>
                      </a:pPr>
                      <a:r>
                        <a:rPr lang="en-US" sz="1600" b="1" dirty="0">
                          <a:latin typeface="Times New Roman" panose="02020603050405020304" pitchFamily="18" charset="0"/>
                          <a:cs typeface="Times New Roman" panose="02020603050405020304" pitchFamily="18" charset="0"/>
                        </a:rPr>
                        <a:t>Title of the Paper, Journal of Publication</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just">
                        <a:buNone/>
                      </a:pPr>
                      <a:r>
                        <a:rPr lang="en-US" sz="1600" b="1" dirty="0">
                          <a:latin typeface="Times New Roman" panose="02020603050405020304" pitchFamily="18" charset="0"/>
                          <a:cs typeface="Times New Roman" panose="02020603050405020304" pitchFamily="18" charset="0"/>
                        </a:rPr>
                        <a:t>Methodology/Technique Implemented</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just">
                        <a:buNone/>
                      </a:pPr>
                      <a:r>
                        <a:rPr lang="en-US" sz="1600" b="1" dirty="0">
                          <a:latin typeface="Times New Roman" panose="02020603050405020304" pitchFamily="18" charset="0"/>
                          <a:cs typeface="Times New Roman" panose="02020603050405020304" pitchFamily="18" charset="0"/>
                        </a:rPr>
                        <a:t>Outcome (Advantages/Limitations)</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210640367"/>
                  </a:ext>
                </a:extLst>
              </a:tr>
              <a:tr h="1001624">
                <a:tc>
                  <a:txBody>
                    <a:bodyPr/>
                    <a:lstStyle/>
                    <a:p>
                      <a:pPr algn="just">
                        <a:buNone/>
                      </a:pPr>
                      <a:r>
                        <a:rPr lang="en-US" sz="1400" dirty="0">
                          <a:latin typeface="Times New Roman" panose="02020603050405020304" pitchFamily="18" charset="0"/>
                          <a:cs typeface="Times New Roman" panose="02020603050405020304" pitchFamily="18" charset="0"/>
                        </a:rPr>
                        <a:t>1</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Dr. SaravanaKumar R, Akshay Prasad Dubey, Santosh Mohan (2016)</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i="1" dirty="0">
                          <a:latin typeface="Times New Roman" panose="02020603050405020304" pitchFamily="18" charset="0"/>
                          <a:cs typeface="Times New Roman" panose="02020603050405020304" pitchFamily="18" charset="0"/>
                        </a:rPr>
                        <a:t>Autonomous Control and Implementation of Coconut Tree Climbing and Harvesting Robot- </a:t>
                      </a:r>
                      <a:r>
                        <a:rPr lang="en-IN" sz="1400" i="1" dirty="0">
                          <a:latin typeface="Times New Roman" panose="02020603050405020304" pitchFamily="18" charset="0"/>
                          <a:cs typeface="Times New Roman" panose="02020603050405020304" pitchFamily="18" charset="0"/>
                        </a:rPr>
                        <a:t>Procedia Computer Science (Elsevier</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Developed a climbing robot with DC motors and robotic cutting arm.</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Reduced manual climbing effort but required manual supervision.</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9187026"/>
                  </a:ext>
                </a:extLst>
              </a:tr>
              <a:tr h="842571">
                <a:tc>
                  <a:txBody>
                    <a:bodyPr/>
                    <a:lstStyle/>
                    <a:p>
                      <a:pPr algn="just">
                        <a:buNone/>
                      </a:pPr>
                      <a:r>
                        <a:rPr lang="en-US" sz="1400">
                          <a:latin typeface="Times New Roman" panose="02020603050405020304" pitchFamily="18" charset="0"/>
                          <a:cs typeface="Times New Roman" panose="02020603050405020304" pitchFamily="18" charset="0"/>
                        </a:rPr>
                        <a:t>2</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M. Kumar, G. Bej, H. S. Pandey (2023)</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i="1" dirty="0">
                          <a:latin typeface="Times New Roman" panose="02020603050405020304" pitchFamily="18" charset="0"/>
                          <a:cs typeface="Times New Roman" panose="02020603050405020304" pitchFamily="18" charset="0"/>
                        </a:rPr>
                        <a:t>Status and Scope of Automated Coconut Harvester in India: A Review - International Journal of Research in Engineering and Science (IJRES)</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Reviewed automated harvesters using AI and vision techniques.</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Highlighted limitations and future scope of smart harvesting systems.</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6198178"/>
                  </a:ext>
                </a:extLst>
              </a:tr>
              <a:tr h="842571">
                <a:tc>
                  <a:txBody>
                    <a:bodyPr/>
                    <a:lstStyle/>
                    <a:p>
                      <a:pPr algn="just">
                        <a:buNone/>
                      </a:pPr>
                      <a:r>
                        <a:rPr lang="en-US" sz="1400">
                          <a:latin typeface="Times New Roman" panose="02020603050405020304" pitchFamily="18" charset="0"/>
                          <a:cs typeface="Times New Roman" panose="02020603050405020304" pitchFamily="18" charset="0"/>
                        </a:rPr>
                        <a:t>3</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Hongcheng Zheng, Yuxing Fu, Zongbin Wang (2024)</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i="1" dirty="0">
                          <a:latin typeface="Times New Roman" panose="02020603050405020304" pitchFamily="18" charset="0"/>
                          <a:cs typeface="Times New Roman" panose="02020603050405020304" pitchFamily="18" charset="0"/>
                        </a:rPr>
                        <a:t>Design and Experiment of Coconut Picking Robot with Climbing - International Journal of Agricultural and Biological Engineering</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Designed a climbing robot with chain-saw cutter and STM32 controller.</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a:latin typeface="Times New Roman" panose="02020603050405020304" pitchFamily="18" charset="0"/>
                          <a:cs typeface="Times New Roman" panose="02020603050405020304" pitchFamily="18" charset="0"/>
                        </a:rPr>
                        <a:t>Faster harvesting but lacked autonomous AI vision support.</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6399548"/>
                  </a:ext>
                </a:extLst>
              </a:tr>
              <a:tr h="1017431">
                <a:tc>
                  <a:txBody>
                    <a:bodyPr/>
                    <a:lstStyle/>
                    <a:p>
                      <a:pPr algn="just">
                        <a:buNone/>
                      </a:pPr>
                      <a:r>
                        <a:rPr lang="en-US" sz="1400">
                          <a:latin typeface="Times New Roman" panose="02020603050405020304" pitchFamily="18" charset="0"/>
                          <a:cs typeface="Times New Roman" panose="02020603050405020304" pitchFamily="18" charset="0"/>
                        </a:rPr>
                        <a:t>4</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dirty="0" err="1">
                          <a:latin typeface="Times New Roman" panose="02020603050405020304" pitchFamily="18" charset="0"/>
                          <a:cs typeface="Times New Roman" panose="02020603050405020304" pitchFamily="18" charset="0"/>
                        </a:rPr>
                        <a:t>Samfford</a:t>
                      </a:r>
                      <a:r>
                        <a:rPr lang="en-US" sz="1400" dirty="0">
                          <a:latin typeface="Times New Roman" panose="02020603050405020304" pitchFamily="18" charset="0"/>
                          <a:cs typeface="Times New Roman" panose="02020603050405020304" pitchFamily="18" charset="0"/>
                        </a:rPr>
                        <a:t> S. Cabaluna, Maria Fe P. </a:t>
                      </a:r>
                      <a:r>
                        <a:rPr lang="en-US" sz="1400" dirty="0" err="1">
                          <a:latin typeface="Times New Roman" panose="02020603050405020304" pitchFamily="18" charset="0"/>
                          <a:cs typeface="Times New Roman" panose="02020603050405020304" pitchFamily="18" charset="0"/>
                        </a:rPr>
                        <a:t>Bahinting</a:t>
                      </a:r>
                      <a:r>
                        <a:rPr lang="en-US" sz="1400" dirty="0">
                          <a:latin typeface="Times New Roman" panose="02020603050405020304" pitchFamily="18" charset="0"/>
                          <a:cs typeface="Times New Roman" panose="02020603050405020304" pitchFamily="18" charset="0"/>
                        </a:rPr>
                        <a:t>, Leah A. </a:t>
                      </a:r>
                      <a:r>
                        <a:rPr lang="en-US" sz="1400" dirty="0" err="1">
                          <a:latin typeface="Times New Roman" panose="02020603050405020304" pitchFamily="18" charset="0"/>
                          <a:cs typeface="Times New Roman" panose="02020603050405020304" pitchFamily="18" charset="0"/>
                        </a:rPr>
                        <a:t>Alindayo</a:t>
                      </a:r>
                      <a:r>
                        <a:rPr lang="en-US" sz="1400" dirty="0">
                          <a:latin typeface="Times New Roman" panose="02020603050405020304" pitchFamily="18" charset="0"/>
                          <a:cs typeface="Times New Roman" panose="02020603050405020304" pitchFamily="18" charset="0"/>
                        </a:rPr>
                        <a:t> (2024)</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i="1" dirty="0">
                          <a:latin typeface="Times New Roman" panose="02020603050405020304" pitchFamily="18" charset="0"/>
                          <a:cs typeface="Times New Roman" panose="02020603050405020304" pitchFamily="18" charset="0"/>
                        </a:rPr>
                        <a:t>Computer-Vision-Based Detection and Monitoring System for Mature Coconut Fruits with a Web Dashboard Visualization Platform - International Journal of Advanced Computer Science and Applications(IJACSA)</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Used YOLOv8 and computer vision for coconut maturity detection.</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just">
                        <a:buNone/>
                      </a:pPr>
                      <a:r>
                        <a:rPr lang="en-US" sz="1400" dirty="0">
                          <a:latin typeface="Times New Roman" panose="02020603050405020304" pitchFamily="18" charset="0"/>
                          <a:cs typeface="Times New Roman" panose="02020603050405020304" pitchFamily="18" charset="0"/>
                        </a:rPr>
                        <a:t>High detection accuracy but tested only in laboratory conditions.</a:t>
                      </a:r>
                    </a:p>
                  </a:txBody>
                  <a:tcPr marL="54392" marR="54392" marT="27196" marB="2719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695036"/>
                  </a:ext>
                </a:extLst>
              </a:tr>
            </a:tbl>
          </a:graphicData>
        </a:graphic>
      </p:graphicFrame>
      <p:sp>
        <p:nvSpPr>
          <p:cNvPr id="5" name="Footer Placeholder 4">
            <a:extLst>
              <a:ext uri="{FF2B5EF4-FFF2-40B4-BE49-F238E27FC236}">
                <a16:creationId xmlns:a16="http://schemas.microsoft.com/office/drawing/2014/main" id="{26ABF75A-4A35-FAE3-F169-B024F18991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A0FB7-C1A8-2E63-BF3C-86D0EBF82704}"/>
              </a:ext>
            </a:extLst>
          </p:cNvPr>
          <p:cNvSpPr>
            <a:spLocks noGrp="1"/>
          </p:cNvSpPr>
          <p:nvPr>
            <p:ph type="sldNum" sz="quarter" idx="12"/>
          </p:nvPr>
        </p:nvSpPr>
        <p:spPr/>
        <p:txBody>
          <a:bodyPr/>
          <a:lstStyle/>
          <a:p>
            <a:fld id="{8C89584D-E97D-47EB-8490-6F36AE365490}" type="slidenum">
              <a:rPr lang="en-IN" smtClean="0"/>
              <a:pPr/>
              <a:t>4</a:t>
            </a:fld>
            <a:endParaRPr lang="en-IN"/>
          </a:p>
        </p:txBody>
      </p:sp>
    </p:spTree>
    <p:extLst>
      <p:ext uri="{BB962C8B-B14F-4D97-AF65-F5344CB8AC3E}">
        <p14:creationId xmlns:p14="http://schemas.microsoft.com/office/powerpoint/2010/main" val="2550762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3D913-04D5-8376-3F1D-4A80936800CD}"/>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63C76184-488B-D66F-43AC-2E855A2AB20E}"/>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62F952C1-F9A0-AD6A-2C5E-34DE9FAD4419}"/>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5E29BBE7-F61C-91FE-27F6-A4BBCF1E9A57}"/>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4730A510-5831-EFB2-4A8D-E18D8656BFBF}"/>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F002EFA4-EAC5-3B8B-ADB4-0FF2C6596FDD}"/>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9302D6BF-97C1-5E37-8299-DA032D3AEED4}"/>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LITERATURE SURVEY </a:t>
            </a:r>
          </a:p>
        </p:txBody>
      </p:sp>
      <p:sp>
        <p:nvSpPr>
          <p:cNvPr id="1048593" name="TextBox 2">
            <a:extLst>
              <a:ext uri="{FF2B5EF4-FFF2-40B4-BE49-F238E27FC236}">
                <a16:creationId xmlns:a16="http://schemas.microsoft.com/office/drawing/2014/main" id="{4B97051E-0EC7-6A3A-9715-21BCC87F1E62}"/>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91D645FD-B88F-FCDB-4475-6B2039404A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EE2DEFC6-CC09-732E-1B38-BF66A5CE3469}"/>
              </a:ext>
            </a:extLst>
          </p:cNvPr>
          <p:cNvGraphicFramePr>
            <a:graphicFrameLocks noGrp="1"/>
          </p:cNvGraphicFramePr>
          <p:nvPr>
            <p:extLst>
              <p:ext uri="{D42A27DB-BD31-4B8C-83A1-F6EECF244321}">
                <p14:modId xmlns:p14="http://schemas.microsoft.com/office/powerpoint/2010/main" val="1022819814"/>
              </p:ext>
            </p:extLst>
          </p:nvPr>
        </p:nvGraphicFramePr>
        <p:xfrm>
          <a:off x="648399" y="1623268"/>
          <a:ext cx="10908380" cy="4887624"/>
        </p:xfrm>
        <a:graphic>
          <a:graphicData uri="http://schemas.openxmlformats.org/drawingml/2006/table">
            <a:tbl>
              <a:tblPr/>
              <a:tblGrid>
                <a:gridCol w="811344">
                  <a:extLst>
                    <a:ext uri="{9D8B030D-6E8A-4147-A177-3AD203B41FA5}">
                      <a16:colId xmlns:a16="http://schemas.microsoft.com/office/drawing/2014/main" val="2496841113"/>
                    </a:ext>
                  </a:extLst>
                </a:gridCol>
                <a:gridCol w="1893194">
                  <a:extLst>
                    <a:ext uri="{9D8B030D-6E8A-4147-A177-3AD203B41FA5}">
                      <a16:colId xmlns:a16="http://schemas.microsoft.com/office/drawing/2014/main" val="3948410877"/>
                    </a:ext>
                  </a:extLst>
                </a:gridCol>
                <a:gridCol w="3464417">
                  <a:extLst>
                    <a:ext uri="{9D8B030D-6E8A-4147-A177-3AD203B41FA5}">
                      <a16:colId xmlns:a16="http://schemas.microsoft.com/office/drawing/2014/main" val="1826867429"/>
                    </a:ext>
                  </a:extLst>
                </a:gridCol>
                <a:gridCol w="2557749">
                  <a:extLst>
                    <a:ext uri="{9D8B030D-6E8A-4147-A177-3AD203B41FA5}">
                      <a16:colId xmlns:a16="http://schemas.microsoft.com/office/drawing/2014/main" val="3598931298"/>
                    </a:ext>
                  </a:extLst>
                </a:gridCol>
                <a:gridCol w="2181676">
                  <a:extLst>
                    <a:ext uri="{9D8B030D-6E8A-4147-A177-3AD203B41FA5}">
                      <a16:colId xmlns:a16="http://schemas.microsoft.com/office/drawing/2014/main" val="3736528580"/>
                    </a:ext>
                  </a:extLst>
                </a:gridCol>
              </a:tblGrid>
              <a:tr h="765224">
                <a:tc>
                  <a:txBody>
                    <a:bodyPr/>
                    <a:lstStyle/>
                    <a:p>
                      <a:pPr>
                        <a:buNone/>
                      </a:pPr>
                      <a:r>
                        <a:rPr lang="en-US" sz="1600" b="1" dirty="0">
                          <a:latin typeface="Times New Roman" panose="02020603050405020304" pitchFamily="18" charset="0"/>
                          <a:cs typeface="Times New Roman" panose="02020603050405020304" pitchFamily="18" charset="0"/>
                        </a:rPr>
                        <a:t>SL. NO</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Author Name, Year of Publication</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Title of the Paper, Journal of Publication</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Methodology/Technique Implemented</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Outcome (Advantages/Limitations)</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950138854"/>
                  </a:ext>
                </a:extLst>
              </a:tr>
              <a:tr h="982980">
                <a:tc>
                  <a:txBody>
                    <a:bodyPr/>
                    <a:lstStyle/>
                    <a:p>
                      <a:pPr algn="l">
                        <a:buNone/>
                      </a:pPr>
                      <a:r>
                        <a:rPr lang="en-US" sz="1400" dirty="0">
                          <a:latin typeface="Times New Roman" panose="02020603050405020304" pitchFamily="18" charset="0"/>
                          <a:cs typeface="Times New Roman" panose="02020603050405020304" pitchFamily="18" charset="0"/>
                        </a:rPr>
                        <a:t>5</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Mani A, </a:t>
                      </a:r>
                      <a:r>
                        <a:rPr lang="en-US" sz="1400" dirty="0" err="1">
                          <a:latin typeface="Times New Roman" panose="02020603050405020304" pitchFamily="18" charset="0"/>
                          <a:cs typeface="Times New Roman" panose="02020603050405020304" pitchFamily="18" charset="0"/>
                        </a:rPr>
                        <a:t>Jothilingam</a:t>
                      </a:r>
                      <a:r>
                        <a:rPr lang="en-US" sz="1400" dirty="0">
                          <a:latin typeface="Times New Roman" panose="02020603050405020304" pitchFamily="18" charset="0"/>
                          <a:cs typeface="Times New Roman" panose="02020603050405020304" pitchFamily="18" charset="0"/>
                        </a:rPr>
                        <a:t> A (2014)</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i="1" dirty="0">
                          <a:latin typeface="Times New Roman" panose="02020603050405020304" pitchFamily="18" charset="0"/>
                          <a:cs typeface="Times New Roman" panose="02020603050405020304" pitchFamily="18" charset="0"/>
                        </a:rPr>
                        <a:t>Design and Fabrication of Coconut Harvesting Robot: COCOBOT - International Journal of Innovative Research in Science, Engineering and Technology</a:t>
                      </a:r>
                      <a:r>
                        <a:rPr lang="en-US" sz="1400" dirty="0"/>
                        <a:t> </a:t>
                      </a:r>
                      <a:r>
                        <a:rPr lang="en-IN" sz="1400" i="1" dirty="0">
                          <a:latin typeface="Times New Roman" panose="02020603050405020304" pitchFamily="18" charset="0"/>
                          <a:cs typeface="Times New Roman" panose="02020603050405020304" pitchFamily="18" charset="0"/>
                        </a:rPr>
                        <a:t>(IJIRSET)</a:t>
                      </a:r>
                      <a:endParaRPr lang="en-US" sz="1400" i="1" dirty="0">
                        <a:latin typeface="Times New Roman" panose="02020603050405020304" pitchFamily="18" charset="0"/>
                        <a:cs typeface="Times New Roman" panose="02020603050405020304" pitchFamily="18" charset="0"/>
                      </a:endParaRP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a:latin typeface="Times New Roman" panose="02020603050405020304" pitchFamily="18" charset="0"/>
                          <a:cs typeface="Times New Roman" panose="02020603050405020304" pitchFamily="18" charset="0"/>
                        </a:rPr>
                        <a:t>Developed a semi-autonomous robot with robotic arm and RF control.</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Improved safety but lacked full automation.</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2673794"/>
                  </a:ext>
                </a:extLst>
              </a:tr>
              <a:tr h="982980">
                <a:tc>
                  <a:txBody>
                    <a:bodyPr/>
                    <a:lstStyle/>
                    <a:p>
                      <a:pPr algn="l">
                        <a:buNone/>
                      </a:pPr>
                      <a:r>
                        <a:rPr lang="en-US" sz="1400">
                          <a:latin typeface="Times New Roman" panose="02020603050405020304" pitchFamily="18" charset="0"/>
                          <a:cs typeface="Times New Roman" panose="02020603050405020304" pitchFamily="18" charset="0"/>
                        </a:rPr>
                        <a:t>6</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V. Ramesh, Deepak Kumar (2025)</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i="1" dirty="0">
                          <a:latin typeface="Times New Roman" panose="02020603050405020304" pitchFamily="18" charset="0"/>
                          <a:cs typeface="Times New Roman" panose="02020603050405020304" pitchFamily="18" charset="0"/>
                        </a:rPr>
                        <a:t>AI and Sensor Based Smart Coconut Harvesting Machine - International Journal for Research in Applied Science and Engineering Technology (IJRASET)</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Used AI algorithms and ultrasonic sensors for harvesting.</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a:latin typeface="Times New Roman" panose="02020603050405020304" pitchFamily="18" charset="0"/>
                          <a:cs typeface="Times New Roman" panose="02020603050405020304" pitchFamily="18" charset="0"/>
                        </a:rPr>
                        <a:t>Reduced labor and improved harvesting efficiency.</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6650001"/>
                  </a:ext>
                </a:extLst>
              </a:tr>
              <a:tr h="982980">
                <a:tc>
                  <a:txBody>
                    <a:bodyPr/>
                    <a:lstStyle/>
                    <a:p>
                      <a:pPr algn="l">
                        <a:buNone/>
                      </a:pPr>
                      <a:r>
                        <a:rPr lang="en-US" sz="1400">
                          <a:latin typeface="Times New Roman" panose="02020603050405020304" pitchFamily="18" charset="0"/>
                          <a:cs typeface="Times New Roman" panose="02020603050405020304" pitchFamily="18" charset="0"/>
                        </a:rPr>
                        <a:t>7</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a:latin typeface="Times New Roman" panose="02020603050405020304" pitchFamily="18" charset="0"/>
                          <a:cs typeface="Times New Roman" panose="02020603050405020304" pitchFamily="18" charset="0"/>
                        </a:rPr>
                        <a:t>R. Karthikeyan, S. Praveen (2023)</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i="1" dirty="0">
                          <a:latin typeface="Times New Roman" panose="02020603050405020304" pitchFamily="18" charset="0"/>
                          <a:cs typeface="Times New Roman" panose="02020603050405020304" pitchFamily="18" charset="0"/>
                        </a:rPr>
                        <a:t>AI Based Coconut Tree Climbing and Harvesting Robot - International Journal of Innovative Research in Engineering and Technology (IJIRET)</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Implemented AI-enabled climbing and cutting mechanisms.</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Reduced human risk and increased harvesting speed.</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200790"/>
                  </a:ext>
                </a:extLst>
              </a:tr>
              <a:tr h="982980">
                <a:tc>
                  <a:txBody>
                    <a:bodyPr/>
                    <a:lstStyle/>
                    <a:p>
                      <a:pPr algn="l">
                        <a:buNone/>
                      </a:pPr>
                      <a:r>
                        <a:rPr lang="en-US" sz="1400">
                          <a:latin typeface="Times New Roman" panose="02020603050405020304" pitchFamily="18" charset="0"/>
                          <a:cs typeface="Times New Roman" panose="02020603050405020304" pitchFamily="18" charset="0"/>
                        </a:rPr>
                        <a:t>8</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Mohammed Afsal, N. Vivek (2024)</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i="1" dirty="0">
                          <a:latin typeface="Times New Roman" panose="02020603050405020304" pitchFamily="18" charset="0"/>
                          <a:cs typeface="Times New Roman" panose="02020603050405020304" pitchFamily="18" charset="0"/>
                        </a:rPr>
                        <a:t>Smart Coconut Harvesting System using IoT and Machine Learning - International Journal of Scientific Research in Computer Science Engineering and Information Technology (IJSRCSEIT)</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Applied IoT sensors and machine learning for coconut detection.</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latin typeface="Times New Roman" panose="02020603050405020304" pitchFamily="18" charset="0"/>
                          <a:cs typeface="Times New Roman" panose="02020603050405020304" pitchFamily="18" charset="0"/>
                        </a:rPr>
                        <a:t>Enabled smart monitoring and accurate harvesting.</a:t>
                      </a:r>
                    </a:p>
                  </a:txBody>
                  <a:tcPr marL="70183" marR="70183" marT="35091" marB="35091"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1819"/>
                  </a:ext>
                </a:extLst>
              </a:tr>
            </a:tbl>
          </a:graphicData>
        </a:graphic>
      </p:graphicFrame>
      <p:sp>
        <p:nvSpPr>
          <p:cNvPr id="4" name="Footer Placeholder 3">
            <a:extLst>
              <a:ext uri="{FF2B5EF4-FFF2-40B4-BE49-F238E27FC236}">
                <a16:creationId xmlns:a16="http://schemas.microsoft.com/office/drawing/2014/main" id="{289D5CF5-C9AD-3215-CAB6-8DAE2BD7D7B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E2556F-63F7-6177-6E66-97655E21BE6F}"/>
              </a:ext>
            </a:extLst>
          </p:cNvPr>
          <p:cNvSpPr>
            <a:spLocks noGrp="1"/>
          </p:cNvSpPr>
          <p:nvPr>
            <p:ph type="sldNum" sz="quarter" idx="12"/>
          </p:nvPr>
        </p:nvSpPr>
        <p:spPr>
          <a:xfrm>
            <a:off x="9221189" y="6459993"/>
            <a:ext cx="2743200" cy="365125"/>
          </a:xfrm>
        </p:spPr>
        <p:txBody>
          <a:bodyPr/>
          <a:lstStyle/>
          <a:p>
            <a:fld id="{8C89584D-E97D-47EB-8490-6F36AE365490}" type="slidenum">
              <a:rPr lang="en-IN" smtClean="0"/>
              <a:pPr/>
              <a:t>5</a:t>
            </a:fld>
            <a:endParaRPr lang="en-IN" dirty="0"/>
          </a:p>
        </p:txBody>
      </p:sp>
    </p:spTree>
    <p:extLst>
      <p:ext uri="{BB962C8B-B14F-4D97-AF65-F5344CB8AC3E}">
        <p14:creationId xmlns:p14="http://schemas.microsoft.com/office/powerpoint/2010/main" val="2938784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2609-F484-53C8-BFD8-3C95AE590DCA}"/>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FE912A39-296A-7F02-B80B-BA7226D93DB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0B1503C0-2F8B-832B-EC10-82074DF9DE7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5FE377F1-5158-39B8-5BA7-0F59FF5DF18E}"/>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872341FF-63E5-A048-D9D5-D51CCFF976DA}"/>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EC815FEB-4F51-F137-D609-A0260D54A2E4}"/>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10011805-9C3B-3475-89AC-95A87E7F3636}"/>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LITERATURE SURVEY </a:t>
            </a:r>
          </a:p>
        </p:txBody>
      </p:sp>
      <p:sp>
        <p:nvSpPr>
          <p:cNvPr id="1048593" name="TextBox 2">
            <a:extLst>
              <a:ext uri="{FF2B5EF4-FFF2-40B4-BE49-F238E27FC236}">
                <a16:creationId xmlns:a16="http://schemas.microsoft.com/office/drawing/2014/main" id="{AB6FF181-8EE5-11A1-E462-222417174209}"/>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8003B375-488A-21D2-DBEB-DAC4E01116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F9115B44-838B-46C0-5329-1889CE20AEA8}"/>
              </a:ext>
            </a:extLst>
          </p:cNvPr>
          <p:cNvGraphicFramePr>
            <a:graphicFrameLocks noGrp="1"/>
          </p:cNvGraphicFramePr>
          <p:nvPr>
            <p:extLst>
              <p:ext uri="{D42A27DB-BD31-4B8C-83A1-F6EECF244321}">
                <p14:modId xmlns:p14="http://schemas.microsoft.com/office/powerpoint/2010/main" val="1398076206"/>
              </p:ext>
            </p:extLst>
          </p:nvPr>
        </p:nvGraphicFramePr>
        <p:xfrm>
          <a:off x="631065" y="1672308"/>
          <a:ext cx="11024315" cy="4287265"/>
        </p:xfrm>
        <a:graphic>
          <a:graphicData uri="http://schemas.openxmlformats.org/drawingml/2006/table">
            <a:tbl>
              <a:tblPr/>
              <a:tblGrid>
                <a:gridCol w="816616">
                  <a:extLst>
                    <a:ext uri="{9D8B030D-6E8A-4147-A177-3AD203B41FA5}">
                      <a16:colId xmlns:a16="http://schemas.microsoft.com/office/drawing/2014/main" val="4105887764"/>
                    </a:ext>
                  </a:extLst>
                </a:gridCol>
                <a:gridCol w="2002027">
                  <a:extLst>
                    <a:ext uri="{9D8B030D-6E8A-4147-A177-3AD203B41FA5}">
                      <a16:colId xmlns:a16="http://schemas.microsoft.com/office/drawing/2014/main" val="821201450"/>
                    </a:ext>
                  </a:extLst>
                </a:gridCol>
                <a:gridCol w="3398176">
                  <a:extLst>
                    <a:ext uri="{9D8B030D-6E8A-4147-A177-3AD203B41FA5}">
                      <a16:colId xmlns:a16="http://schemas.microsoft.com/office/drawing/2014/main" val="745462335"/>
                    </a:ext>
                  </a:extLst>
                </a:gridCol>
                <a:gridCol w="2602633">
                  <a:extLst>
                    <a:ext uri="{9D8B030D-6E8A-4147-A177-3AD203B41FA5}">
                      <a16:colId xmlns:a16="http://schemas.microsoft.com/office/drawing/2014/main" val="922802364"/>
                    </a:ext>
                  </a:extLst>
                </a:gridCol>
                <a:gridCol w="2204863">
                  <a:extLst>
                    <a:ext uri="{9D8B030D-6E8A-4147-A177-3AD203B41FA5}">
                      <a16:colId xmlns:a16="http://schemas.microsoft.com/office/drawing/2014/main" val="250088175"/>
                    </a:ext>
                  </a:extLst>
                </a:gridCol>
              </a:tblGrid>
              <a:tr h="757576">
                <a:tc>
                  <a:txBody>
                    <a:bodyPr/>
                    <a:lstStyle/>
                    <a:p>
                      <a:pPr>
                        <a:buNone/>
                      </a:pPr>
                      <a:r>
                        <a:rPr lang="en-US" sz="1600" b="1" dirty="0">
                          <a:latin typeface="Times New Roman" panose="02020603050405020304" pitchFamily="18" charset="0"/>
                          <a:cs typeface="Times New Roman" panose="02020603050405020304" pitchFamily="18" charset="0"/>
                        </a:rPr>
                        <a:t>SL. NO</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Author Name, Year of Publication</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Title of the Paper, Journal of Publication</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Methodology/Technique Implemented</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sz="1600" b="1" dirty="0">
                          <a:latin typeface="Times New Roman" panose="02020603050405020304" pitchFamily="18" charset="0"/>
                          <a:cs typeface="Times New Roman" panose="02020603050405020304" pitchFamily="18" charset="0"/>
                        </a:rPr>
                        <a:t>Outcome (Advantages/Limitations)</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079451741"/>
                  </a:ext>
                </a:extLst>
              </a:tr>
              <a:tr h="918623">
                <a:tc>
                  <a:txBody>
                    <a:bodyPr/>
                    <a:lstStyle/>
                    <a:p>
                      <a:pPr>
                        <a:buNone/>
                      </a:pPr>
                      <a:r>
                        <a:rPr lang="en-US" sz="1400" dirty="0">
                          <a:latin typeface="Times New Roman" panose="02020603050405020304" pitchFamily="18" charset="0"/>
                          <a:cs typeface="Times New Roman" panose="02020603050405020304" pitchFamily="18" charset="0"/>
                        </a:rPr>
                        <a:t>9</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Priya Sharma, Arun Raj (2025)</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i="1" dirty="0">
                          <a:latin typeface="Times New Roman" panose="02020603050405020304" pitchFamily="18" charset="0"/>
                          <a:cs typeface="Times New Roman" panose="02020603050405020304" pitchFamily="18" charset="0"/>
                        </a:rPr>
                        <a:t>Deep Learning Based Coconut Detection for Automated Harvesting - Journal of Artificial Intelligence and Smart Agriculture</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Used deep learning and CNN models for coconut detection.</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Improved accuracy and reduced crop damage.</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7021155"/>
                  </a:ext>
                </a:extLst>
              </a:tr>
              <a:tr h="901521">
                <a:tc>
                  <a:txBody>
                    <a:bodyPr/>
                    <a:lstStyle/>
                    <a:p>
                      <a:pPr>
                        <a:buNone/>
                      </a:pPr>
                      <a:r>
                        <a:rPr lang="en-US" sz="1400">
                          <a:latin typeface="Times New Roman" panose="02020603050405020304" pitchFamily="18" charset="0"/>
                          <a:cs typeface="Times New Roman" panose="02020603050405020304" pitchFamily="18" charset="0"/>
                        </a:rPr>
                        <a:t>10</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A. Lakshmi, P. Harish (2024)</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i="1" dirty="0">
                          <a:latin typeface="Times New Roman" panose="02020603050405020304" pitchFamily="18" charset="0"/>
                          <a:cs typeface="Times New Roman" panose="02020603050405020304" pitchFamily="18" charset="0"/>
                        </a:rPr>
                        <a:t>Autonomous Agricultural Harvesting Robot using Computer Vision - International Journal of Advanced Agricultural Technologies</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Implemented autonomous navigation and object detection.</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Increased productivity but affected by poor lighting conditions.</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9015159"/>
                  </a:ext>
                </a:extLst>
              </a:tr>
              <a:tr h="717302">
                <a:tc>
                  <a:txBody>
                    <a:bodyPr/>
                    <a:lstStyle/>
                    <a:p>
                      <a:pPr>
                        <a:buNone/>
                      </a:pPr>
                      <a:r>
                        <a:rPr lang="en-US" sz="1400">
                          <a:latin typeface="Times New Roman" panose="02020603050405020304" pitchFamily="18" charset="0"/>
                          <a:cs typeface="Times New Roman" panose="02020603050405020304" pitchFamily="18" charset="0"/>
                        </a:rPr>
                        <a:t>11</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K. Suresh, M. Dinesh (2022)</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i="1" dirty="0">
                          <a:latin typeface="Times New Roman" panose="02020603050405020304" pitchFamily="18" charset="0"/>
                          <a:cs typeface="Times New Roman" panose="02020603050405020304" pitchFamily="18" charset="0"/>
                        </a:rPr>
                        <a:t>Robotic Arm for Coconut Harvesting in Agricultural Fields - </a:t>
                      </a:r>
                      <a:r>
                        <a:rPr lang="en-IN" sz="1400" i="1" dirty="0">
                          <a:latin typeface="Times New Roman" panose="02020603050405020304" pitchFamily="18" charset="0"/>
                          <a:cs typeface="Times New Roman" panose="02020603050405020304" pitchFamily="18" charset="0"/>
                        </a:rPr>
                        <a:t>International Conference on Smart Farming Technologies</a:t>
                      </a:r>
                      <a:endParaRPr lang="en-US" sz="1400" i="1" dirty="0">
                        <a:latin typeface="Times New Roman" panose="02020603050405020304" pitchFamily="18" charset="0"/>
                        <a:cs typeface="Times New Roman" panose="02020603050405020304" pitchFamily="18" charset="0"/>
                      </a:endParaRP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Developed robotic arm with wireless harvesting control.</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Safer harvesting compared to manual climbing.</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6657454"/>
                  </a:ext>
                </a:extLst>
              </a:tr>
              <a:tr h="932492">
                <a:tc>
                  <a:txBody>
                    <a:bodyPr/>
                    <a:lstStyle/>
                    <a:p>
                      <a:pPr>
                        <a:buNone/>
                      </a:pPr>
                      <a:r>
                        <a:rPr lang="en-US" sz="1400">
                          <a:latin typeface="Times New Roman" panose="02020603050405020304" pitchFamily="18" charset="0"/>
                          <a:cs typeface="Times New Roman" panose="02020603050405020304" pitchFamily="18" charset="0"/>
                        </a:rPr>
                        <a:t>12</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Arun Kumar, S. Naveen (2023)</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i="1" dirty="0">
                          <a:latin typeface="Times New Roman" panose="02020603050405020304" pitchFamily="18" charset="0"/>
                          <a:cs typeface="Times New Roman" panose="02020603050405020304" pitchFamily="18" charset="0"/>
                        </a:rPr>
                        <a:t>Machine Learning Based Smart Agriculture Harvesting System - International Journal of Machine Learning and Computing</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Used machine learning models and smart sensors for crop harvesting.</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Improved automation and reduced harvesting time.</a:t>
                      </a:r>
                    </a:p>
                  </a:txBody>
                  <a:tcPr marL="66944" marR="66944" marT="33472" marB="3347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6152128"/>
                  </a:ext>
                </a:extLst>
              </a:tr>
            </a:tbl>
          </a:graphicData>
        </a:graphic>
      </p:graphicFrame>
      <p:sp>
        <p:nvSpPr>
          <p:cNvPr id="4" name="Footer Placeholder 3">
            <a:extLst>
              <a:ext uri="{FF2B5EF4-FFF2-40B4-BE49-F238E27FC236}">
                <a16:creationId xmlns:a16="http://schemas.microsoft.com/office/drawing/2014/main" id="{46C55653-A4E1-F45A-A221-A31137D42A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EE483E-E3CA-2106-02EC-5E84EE46CF1A}"/>
              </a:ext>
            </a:extLst>
          </p:cNvPr>
          <p:cNvSpPr>
            <a:spLocks noGrp="1"/>
          </p:cNvSpPr>
          <p:nvPr>
            <p:ph type="sldNum" sz="quarter" idx="12"/>
          </p:nvPr>
        </p:nvSpPr>
        <p:spPr/>
        <p:txBody>
          <a:bodyPr/>
          <a:lstStyle/>
          <a:p>
            <a:fld id="{8C89584D-E97D-47EB-8490-6F36AE365490}" type="slidenum">
              <a:rPr lang="en-IN" smtClean="0"/>
              <a:pPr/>
              <a:t>6</a:t>
            </a:fld>
            <a:endParaRPr lang="en-IN"/>
          </a:p>
        </p:txBody>
      </p:sp>
    </p:spTree>
    <p:extLst>
      <p:ext uri="{BB962C8B-B14F-4D97-AF65-F5344CB8AC3E}">
        <p14:creationId xmlns:p14="http://schemas.microsoft.com/office/powerpoint/2010/main" val="3781627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F7FD-3729-1D11-E40A-092D15C3E0D4}"/>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BD846A55-54C3-794F-F8BC-5D62FFD58E7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D91AED91-361C-3847-29A8-14017403CF06}"/>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A1E17DC7-C322-A8B8-099D-48CC102EF38C}"/>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5B5B8B67-DC06-6221-5B5C-D620A6BF00F4}"/>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BCEFBF6D-B987-25FE-C962-34846ECF1AEB}"/>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ED25E73-AFE2-03C3-BAD3-FF87E00B7662}"/>
              </a:ext>
            </a:extLst>
          </p:cNvPr>
          <p:cNvSpPr>
            <a:spLocks noChangeArrowheads="1"/>
          </p:cNvSpPr>
          <p:nvPr/>
        </p:nvSpPr>
        <p:spPr bwMode="auto">
          <a:xfrm>
            <a:off x="2080595" y="1299085"/>
            <a:ext cx="7773510" cy="707886"/>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Problem Statement</a:t>
            </a:r>
            <a:endParaRPr lang="en-IN" sz="2000" dirty="0">
              <a:latin typeface="Times New Roman" panose="02020603050405020304" pitchFamily="18" charset="0"/>
              <a:cs typeface="Times New Roman" panose="02020603050405020304" pitchFamily="18" charset="0"/>
            </a:endParaRPr>
          </a:p>
          <a:p>
            <a:pPr algn="ctr"/>
            <a:endParaRPr lang="en-US" sz="2000" b="1" u="sng"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1A7F7EF0-58E6-7D0B-A06D-C3A5146FC44F}"/>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4ACF128B-A153-054A-89B1-F6EAFE981E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BF833D52-42D2-5901-6BE5-0319D6FD6D43}"/>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E33BE36C-3978-2F67-4DD9-A31BB46E7B69}"/>
              </a:ext>
            </a:extLst>
          </p:cNvPr>
          <p:cNvSpPr txBox="1"/>
          <p:nvPr/>
        </p:nvSpPr>
        <p:spPr>
          <a:xfrm>
            <a:off x="899968" y="2334229"/>
            <a:ext cx="10405241" cy="1156086"/>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Coconut harvesting in India still depends on manual tree climbing, which is risky, </a:t>
            </a:r>
            <a:r>
              <a:rPr lang="en-US" sz="1600" dirty="0" err="1">
                <a:latin typeface="Times New Roman" panose="02020603050405020304" pitchFamily="18" charset="0"/>
                <a:cs typeface="Times New Roman" panose="02020603050405020304" pitchFamily="18" charset="0"/>
              </a:rPr>
              <a:t>labour-intensive</a:t>
            </a:r>
            <a:r>
              <a:rPr lang="en-US" sz="1600" dirty="0">
                <a:latin typeface="Times New Roman" panose="02020603050405020304" pitchFamily="18" charset="0"/>
                <a:cs typeface="Times New Roman" panose="02020603050405020304" pitchFamily="18" charset="0"/>
              </a:rPr>
              <a:t>, and costly due to the shortage of skilled workers. Farmers also face difficulties in identifying mature coconuts and managing harvesting efficiently on large plantations, leading to reduced productivity and crop loss. </a:t>
            </a:r>
            <a:endParaRPr lang="en-IN" sz="16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BA469D00-58C7-640E-E00D-8830D7ACA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7925AF-092D-0D5C-3E1A-27BEAC68BC4C}"/>
              </a:ext>
            </a:extLst>
          </p:cNvPr>
          <p:cNvSpPr>
            <a:spLocks noGrp="1"/>
          </p:cNvSpPr>
          <p:nvPr>
            <p:ph type="sldNum" sz="quarter" idx="12"/>
          </p:nvPr>
        </p:nvSpPr>
        <p:spPr/>
        <p:txBody>
          <a:bodyPr/>
          <a:lstStyle/>
          <a:p>
            <a:fld id="{8C89584D-E97D-47EB-8490-6F36AE365490}" type="slidenum">
              <a:rPr lang="en-IN" smtClean="0"/>
              <a:pPr/>
              <a:t>7</a:t>
            </a:fld>
            <a:endParaRPr lang="en-IN"/>
          </a:p>
        </p:txBody>
      </p:sp>
    </p:spTree>
    <p:extLst>
      <p:ext uri="{BB962C8B-B14F-4D97-AF65-F5344CB8AC3E}">
        <p14:creationId xmlns:p14="http://schemas.microsoft.com/office/powerpoint/2010/main" val="3337341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1DAC-5BB2-EFA2-498B-458EDB498C03}"/>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46EB6CDE-E4BA-0C53-0FF2-D1D3680745D6}"/>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EAF7A686-B7BF-804D-46D2-10B12C116C33}"/>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2E7A1D19-33E3-E45C-63C5-D6661B41CB7F}"/>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30972C28-840B-B6A1-EB1D-53CE4F610FE7}"/>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8AD471C6-E32B-237A-E431-E4471EEFF47D}"/>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DF2D014A-2202-91EF-8EAB-304B529527A8}"/>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Objectives</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28E437D3-2058-CE49-5E24-F28807FDA5A5}"/>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4B4CCBA7-91CD-24DA-F9AF-21DDB8510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A07E14CB-EA68-6146-2474-3CDB8236FA80}"/>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96703911-14E0-9EF2-C905-F13C450BFDB9}"/>
              </a:ext>
            </a:extLst>
          </p:cNvPr>
          <p:cNvSpPr txBox="1"/>
          <p:nvPr/>
        </p:nvSpPr>
        <p:spPr>
          <a:xfrm>
            <a:off x="899968" y="2334229"/>
            <a:ext cx="10405241" cy="2616101"/>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automate the detection, GPS tagging, and location mapping of coconut trees using drone-captured aerial imagery and AI-based vision models.</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classify coconuts by ripeness and generate farmer-controlled harvest task queues stored in a structured database.</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enable a tree-climbing robot to autonomously execute harvesting tasks by communicating with a backend API in real time.</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develop a web-based dashboard that provides farmers with live monitoring of plantation status, tree health, and harvest progress.</a:t>
            </a:r>
          </a:p>
        </p:txBody>
      </p:sp>
      <p:sp>
        <p:nvSpPr>
          <p:cNvPr id="5" name="Footer Placeholder 4">
            <a:extLst>
              <a:ext uri="{FF2B5EF4-FFF2-40B4-BE49-F238E27FC236}">
                <a16:creationId xmlns:a16="http://schemas.microsoft.com/office/drawing/2014/main" id="{5C7546DA-82C4-8FEC-A688-BD5E043173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97D231-81BB-2A5F-02F7-4D5CA1EB6697}"/>
              </a:ext>
            </a:extLst>
          </p:cNvPr>
          <p:cNvSpPr>
            <a:spLocks noGrp="1"/>
          </p:cNvSpPr>
          <p:nvPr>
            <p:ph type="sldNum" sz="quarter" idx="12"/>
          </p:nvPr>
        </p:nvSpPr>
        <p:spPr/>
        <p:txBody>
          <a:bodyPr/>
          <a:lstStyle/>
          <a:p>
            <a:fld id="{8C89584D-E97D-47EB-8490-6F36AE365490}" type="slidenum">
              <a:rPr lang="en-IN" smtClean="0"/>
              <a:pPr/>
              <a:t>8</a:t>
            </a:fld>
            <a:endParaRPr lang="en-IN"/>
          </a:p>
        </p:txBody>
      </p:sp>
    </p:spTree>
    <p:extLst>
      <p:ext uri="{BB962C8B-B14F-4D97-AF65-F5344CB8AC3E}">
        <p14:creationId xmlns:p14="http://schemas.microsoft.com/office/powerpoint/2010/main" val="88058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F7E3-F922-E1B6-249C-C889F71D2601}"/>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6BC7ABF6-0227-1460-638D-1205D44FE435}"/>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F74DD9C5-3C14-70A3-3835-5202E73ACE2B}"/>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A4FD04BA-70A6-0A8A-912A-E48BE70B8B4C}"/>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6E237E56-A818-E6ED-7B40-1251FD7ADA07}"/>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2C9401FB-8E51-D9C3-E347-2120F19D9805}"/>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D5F20E38-E867-2BC6-0725-757976672A04}"/>
              </a:ext>
            </a:extLst>
          </p:cNvPr>
          <p:cNvSpPr>
            <a:spLocks noChangeArrowheads="1"/>
          </p:cNvSpPr>
          <p:nvPr/>
        </p:nvSpPr>
        <p:spPr bwMode="auto">
          <a:xfrm>
            <a:off x="2080595" y="1084623"/>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8A6E89EC-BEE9-A411-9FE5-F7C8A096F1B5}"/>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0F94F2EB-92BF-8256-79FA-74D579AED9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C1C249D5-428F-6793-C037-EFF15AEF9236}"/>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pic>
        <p:nvPicPr>
          <p:cNvPr id="3" name="Picture 2">
            <a:extLst>
              <a:ext uri="{FF2B5EF4-FFF2-40B4-BE49-F238E27FC236}">
                <a16:creationId xmlns:a16="http://schemas.microsoft.com/office/drawing/2014/main" id="{F765A315-5A12-9557-9021-2E16D70F7D04}"/>
              </a:ext>
            </a:extLst>
          </p:cNvPr>
          <p:cNvPicPr>
            <a:picLocks noChangeAspect="1"/>
          </p:cNvPicPr>
          <p:nvPr/>
        </p:nvPicPr>
        <p:blipFill>
          <a:blip r:embed="rId5"/>
          <a:stretch>
            <a:fillRect/>
          </a:stretch>
        </p:blipFill>
        <p:spPr>
          <a:xfrm>
            <a:off x="798490" y="1539669"/>
            <a:ext cx="10277341" cy="5318332"/>
          </a:xfrm>
          <a:prstGeom prst="rect">
            <a:avLst/>
          </a:prstGeom>
        </p:spPr>
      </p:pic>
      <p:sp>
        <p:nvSpPr>
          <p:cNvPr id="4" name="Rectangle 3">
            <a:extLst>
              <a:ext uri="{FF2B5EF4-FFF2-40B4-BE49-F238E27FC236}">
                <a16:creationId xmlns:a16="http://schemas.microsoft.com/office/drawing/2014/main" id="{4D0A2AB2-10FE-8536-7976-8016B4B8A8F7}"/>
              </a:ext>
            </a:extLst>
          </p:cNvPr>
          <p:cNvSpPr/>
          <p:nvPr/>
        </p:nvSpPr>
        <p:spPr>
          <a:xfrm>
            <a:off x="6877359" y="3383071"/>
            <a:ext cx="271398" cy="9185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FD4E3C8-B63D-E01C-2C80-4C877EF840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C8C9D9-ADF9-69E4-8279-C75A3CC0B4B3}"/>
              </a:ext>
            </a:extLst>
          </p:cNvPr>
          <p:cNvSpPr>
            <a:spLocks noGrp="1"/>
          </p:cNvSpPr>
          <p:nvPr>
            <p:ph type="sldNum" sz="quarter" idx="12"/>
          </p:nvPr>
        </p:nvSpPr>
        <p:spPr/>
        <p:txBody>
          <a:bodyPr/>
          <a:lstStyle/>
          <a:p>
            <a:fld id="{8C89584D-E97D-47EB-8490-6F36AE365490}" type="slidenum">
              <a:rPr lang="en-IN" smtClean="0"/>
              <a:pPr/>
              <a:t>9</a:t>
            </a:fld>
            <a:endParaRPr lang="en-IN"/>
          </a:p>
        </p:txBody>
      </p:sp>
    </p:spTree>
    <p:extLst>
      <p:ext uri="{BB962C8B-B14F-4D97-AF65-F5344CB8AC3E}">
        <p14:creationId xmlns:p14="http://schemas.microsoft.com/office/powerpoint/2010/main" val="224084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4B22-FD79-3369-65E6-A3DB4192DFE4}"/>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6057F5E9-B4DA-B822-F0CA-2DDAA9683229}"/>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ABD57ABB-EAF6-7263-9DC2-73871ABF6FC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33933D8C-9BA6-8902-92E3-D6075409DDB7}"/>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FAE13AB2-239B-08FD-A732-E7284144CC65}"/>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5EAD8858-568F-E95E-5271-5586B2981AE7}"/>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FAFCA1E7-A751-7FFC-FB49-AD8100A6C216}"/>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Software and Hardware Requirements</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D2EA315F-8508-3766-49B6-3C2E66EB3418}"/>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0BADABB8-4D24-16E5-9391-C6EAECCBB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25F1CADE-736D-05A6-6D06-78BCDE3A3101}"/>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9C421629-C087-7959-F11C-9AB8884FABBF}"/>
              </a:ext>
            </a:extLst>
          </p:cNvPr>
          <p:cNvSpPr txBox="1"/>
          <p:nvPr/>
        </p:nvSpPr>
        <p:spPr>
          <a:xfrm>
            <a:off x="899968" y="2102409"/>
            <a:ext cx="10405241" cy="378565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Software Requirements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Backend</a:t>
            </a:r>
            <a:r>
              <a:rPr lang="en-US" sz="1600" dirty="0">
                <a:latin typeface="Times New Roman" panose="02020603050405020304" pitchFamily="18" charset="0"/>
                <a:cs typeface="Times New Roman" panose="02020603050405020304" pitchFamily="18" charset="0"/>
              </a:rPr>
              <a:t> – Python, </a:t>
            </a:r>
            <a:r>
              <a:rPr lang="en-US" sz="1600" dirty="0" err="1">
                <a:latin typeface="Times New Roman" panose="02020603050405020304" pitchFamily="18" charset="0"/>
                <a:cs typeface="Times New Roman" panose="02020603050405020304" pitchFamily="18" charset="0"/>
              </a:rPr>
              <a:t>FastAPI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Uvicorn</a:t>
            </a:r>
            <a:r>
              <a:rPr lang="en-US" sz="1600" dirty="0">
                <a:latin typeface="Times New Roman" panose="02020603050405020304" pitchFamily="18" charset="0"/>
                <a:cs typeface="Times New Roman" panose="02020603050405020304" pitchFamily="18" charset="0"/>
              </a:rPr>
              <a:t>, PostgreSQL, python-</a:t>
            </a:r>
            <a:r>
              <a:rPr lang="en-US" sz="1600" dirty="0" err="1">
                <a:latin typeface="Times New Roman" panose="02020603050405020304" pitchFamily="18" charset="0"/>
                <a:cs typeface="Times New Roman" panose="02020603050405020304" pitchFamily="18" charset="0"/>
              </a:rPr>
              <a:t>dotenv</a:t>
            </a:r>
            <a:r>
              <a:rPr lang="en-US" sz="1600" dirty="0">
                <a:latin typeface="Times New Roman" panose="02020603050405020304" pitchFamily="18" charset="0"/>
                <a:cs typeface="Times New Roman" panose="02020603050405020304" pitchFamily="18" charset="0"/>
              </a:rPr>
              <a:t> for configuration management.</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AI / Vision </a:t>
            </a:r>
            <a:r>
              <a:rPr lang="en-US" sz="1600" dirty="0">
                <a:latin typeface="Times New Roman" panose="02020603050405020304" pitchFamily="18" charset="0"/>
                <a:cs typeface="Times New Roman" panose="02020603050405020304" pitchFamily="18" charset="0"/>
              </a:rPr>
              <a:t>– YOLOv8 (</a:t>
            </a:r>
            <a:r>
              <a:rPr lang="en-US" sz="1600" dirty="0" err="1">
                <a:latin typeface="Times New Roman" panose="02020603050405020304" pitchFamily="18" charset="0"/>
                <a:cs typeface="Times New Roman" panose="02020603050405020304" pitchFamily="18" charset="0"/>
              </a:rPr>
              <a:t>Ultralytics</a:t>
            </a:r>
            <a:r>
              <a:rPr lang="en-US" sz="1600" dirty="0">
                <a:latin typeface="Times New Roman" panose="02020603050405020304" pitchFamily="18" charset="0"/>
                <a:cs typeface="Times New Roman" panose="02020603050405020304" pitchFamily="18" charset="0"/>
              </a:rPr>
              <a:t>), OpenCV, Pillow for image processing and model inference.</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Frontend</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Next.js</a:t>
            </a:r>
            <a:r>
              <a:rPr lang="en-US" sz="1600" dirty="0">
                <a:latin typeface="Times New Roman" panose="02020603050405020304" pitchFamily="18" charset="0"/>
                <a:cs typeface="Times New Roman" panose="02020603050405020304" pitchFamily="18" charset="0"/>
              </a:rPr>
              <a:t> 16, React 19, TypeScript, Tailwind CSS, React-Leaflet for interactive farm map visualization.</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Simulation &amp; Visualization </a:t>
            </a:r>
            <a:r>
              <a:rPr lang="en-US" sz="1600" dirty="0">
                <a:latin typeface="Times New Roman" panose="02020603050405020304" pitchFamily="18" charset="0"/>
                <a:cs typeface="Times New Roman" panose="02020603050405020304" pitchFamily="18" charset="0"/>
              </a:rPr>
              <a:t>– A robot simulation framework like </a:t>
            </a:r>
            <a:r>
              <a:rPr lang="en-US" sz="1600" b="1" dirty="0">
                <a:latin typeface="Times New Roman" panose="02020603050405020304" pitchFamily="18" charset="0"/>
                <a:cs typeface="Times New Roman" panose="02020603050405020304" pitchFamily="18" charset="0"/>
              </a:rPr>
              <a:t>Gazebo</a:t>
            </a:r>
            <a:r>
              <a:rPr lang="en-US" sz="1600" dirty="0">
                <a:latin typeface="Times New Roman" panose="02020603050405020304" pitchFamily="18" charset="0"/>
                <a:cs typeface="Times New Roman" panose="02020603050405020304" pitchFamily="18" charset="0"/>
              </a:rPr>
              <a:t> or </a:t>
            </a:r>
            <a:r>
              <a:rPr lang="en-US" sz="1600" b="1" dirty="0" err="1">
                <a:latin typeface="Times New Roman" panose="02020603050405020304" pitchFamily="18" charset="0"/>
                <a:cs typeface="Times New Roman" panose="02020603050405020304" pitchFamily="18" charset="0"/>
              </a:rPr>
              <a:t>Webots</a:t>
            </a:r>
            <a:r>
              <a:rPr lang="en-US" sz="1600" dirty="0">
                <a:latin typeface="Times New Roman" panose="02020603050405020304" pitchFamily="18" charset="0"/>
                <a:cs typeface="Times New Roman" panose="02020603050405020304" pitchFamily="18" charset="0"/>
              </a:rPr>
              <a:t> to visually simulate the tree-climbing robot and harvesting process before real-world deployment.</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Other</a:t>
            </a:r>
            <a:r>
              <a:rPr lang="en-US" sz="1600" dirty="0">
                <a:latin typeface="Times New Roman" panose="02020603050405020304" pitchFamily="18" charset="0"/>
                <a:cs typeface="Times New Roman" panose="02020603050405020304" pitchFamily="18" charset="0"/>
              </a:rPr>
              <a:t> – Git for version control, Postman for API testing, VS Code as the primary IDE.</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Hardware Requirements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Drone</a:t>
            </a:r>
            <a:r>
              <a:rPr lang="en-US" sz="1600" dirty="0">
                <a:latin typeface="Times New Roman" panose="02020603050405020304" pitchFamily="18" charset="0"/>
                <a:cs typeface="Times New Roman" panose="02020603050405020304" pitchFamily="18" charset="0"/>
              </a:rPr>
              <a:t> – GPS-enabled drone with a downward-facing camera for aerial plantation scanning.</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Onboard Camera / Edge Device </a:t>
            </a:r>
            <a:r>
              <a:rPr lang="en-US" sz="1600" dirty="0">
                <a:latin typeface="Times New Roman" panose="02020603050405020304" pitchFamily="18" charset="0"/>
                <a:cs typeface="Times New Roman" panose="02020603050405020304" pitchFamily="18" charset="0"/>
              </a:rPr>
              <a:t>– Camera module attached to the robot for close-up coconut ripeness detection.</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Tree-Climbing Robot </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Motorised</a:t>
            </a:r>
            <a:r>
              <a:rPr lang="en-US" sz="1600" dirty="0">
                <a:latin typeface="Times New Roman" panose="02020603050405020304" pitchFamily="18" charset="0"/>
                <a:cs typeface="Times New Roman" panose="02020603050405020304" pitchFamily="18" charset="0"/>
              </a:rPr>
              <a:t> robotic unit capable of climbing coconut trees and cutting/plucking coconuts on command.</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Processing Unit </a:t>
            </a:r>
            <a:r>
              <a:rPr lang="en-US" sz="1600" dirty="0">
                <a:latin typeface="Times New Roman" panose="02020603050405020304" pitchFamily="18" charset="0"/>
                <a:cs typeface="Times New Roman" panose="02020603050405020304" pitchFamily="18" charset="0"/>
              </a:rPr>
              <a:t>– A laptop or server (minimum 8GB RAM, preferably with GPU) to run the </a:t>
            </a:r>
            <a:r>
              <a:rPr lang="en-US" sz="1600" dirty="0" err="1">
                <a:latin typeface="Times New Roman" panose="02020603050405020304" pitchFamily="18" charset="0"/>
                <a:cs typeface="Times New Roman" panose="02020603050405020304" pitchFamily="18" charset="0"/>
              </a:rPr>
              <a:t>FastAPI</a:t>
            </a:r>
            <a:r>
              <a:rPr lang="en-US" sz="1600" dirty="0">
                <a:latin typeface="Times New Roman" panose="02020603050405020304" pitchFamily="18" charset="0"/>
                <a:cs typeface="Times New Roman" panose="02020603050405020304" pitchFamily="18" charset="0"/>
              </a:rPr>
              <a:t> backend and YOLO inference.</a:t>
            </a:r>
          </a:p>
        </p:txBody>
      </p:sp>
      <p:sp>
        <p:nvSpPr>
          <p:cNvPr id="5" name="Footer Placeholder 4">
            <a:extLst>
              <a:ext uri="{FF2B5EF4-FFF2-40B4-BE49-F238E27FC236}">
                <a16:creationId xmlns:a16="http://schemas.microsoft.com/office/drawing/2014/main" id="{5AE09F0C-A348-8F34-43CF-DAE1903D3C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795E63-D222-7DA7-BA36-08579F35B7D7}"/>
              </a:ext>
            </a:extLst>
          </p:cNvPr>
          <p:cNvSpPr>
            <a:spLocks noGrp="1"/>
          </p:cNvSpPr>
          <p:nvPr>
            <p:ph type="sldNum" sz="quarter" idx="12"/>
          </p:nvPr>
        </p:nvSpPr>
        <p:spPr/>
        <p:txBody>
          <a:bodyPr/>
          <a:lstStyle/>
          <a:p>
            <a:fld id="{8C89584D-E97D-47EB-8490-6F36AE365490}" type="slidenum">
              <a:rPr lang="en-IN" smtClean="0"/>
              <a:pPr/>
              <a:t>10</a:t>
            </a:fld>
            <a:endParaRPr lang="en-IN"/>
          </a:p>
        </p:txBody>
      </p:sp>
    </p:spTree>
    <p:extLst>
      <p:ext uri="{BB962C8B-B14F-4D97-AF65-F5344CB8AC3E}">
        <p14:creationId xmlns:p14="http://schemas.microsoft.com/office/powerpoint/2010/main" val="1154174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B75B8-A27C-6259-C4D7-571571753017}"/>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84D72BE6-C300-196B-2D9B-4AD6537ABECA}"/>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B7C38DF3-9CDC-04EF-4CC5-278A17002A2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67B301AB-F8A5-F886-053A-40909076A2C1}"/>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2CF260F8-CBBC-9A16-47DA-942B9C035C3B}"/>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81C5C380-5A5F-6C7B-FE36-CC7FE6F0C5AA}"/>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BBEE25C-2A9D-7CE6-B5DC-0D61909858E4}"/>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Advantages</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7BDB2B58-0314-1366-4A48-965CBAF2E7F5}"/>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7598AD35-5C80-784E-3AEF-29687B5CCA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7A4E04D7-CC63-0D1A-AFFF-326241583CDD}"/>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CBBD0AB8-F3E2-709B-92D2-B24AA54D0A01}"/>
              </a:ext>
            </a:extLst>
          </p:cNvPr>
          <p:cNvSpPr txBox="1"/>
          <p:nvPr/>
        </p:nvSpPr>
        <p:spPr>
          <a:xfrm>
            <a:off x="889613" y="2230560"/>
            <a:ext cx="10405241" cy="3539430"/>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Zero Manual Climbing</a:t>
            </a:r>
            <a:r>
              <a:rPr lang="en-US" sz="1600" dirty="0">
                <a:latin typeface="Times New Roman" panose="02020603050405020304" pitchFamily="18" charset="0"/>
                <a:cs typeface="Times New Roman" panose="02020603050405020304" pitchFamily="18" charset="0"/>
              </a:rPr>
              <a:t> - Eliminates the need for workers to climb tall trees, significantly reducing the risk of fatal accidents and injuries.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AI-Driven Precision</a:t>
            </a:r>
            <a:r>
              <a:rPr lang="en-US" sz="1600" dirty="0">
                <a:latin typeface="Times New Roman" panose="02020603050405020304" pitchFamily="18" charset="0"/>
                <a:cs typeface="Times New Roman" panose="02020603050405020304" pitchFamily="18" charset="0"/>
              </a:rPr>
              <a:t> - YOLOv8 models detect and classify coconuts by ripeness, ensuring only the right coconuts are harvested at the right time, reducing yield waste.</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Scalable &amp; Automated</a:t>
            </a:r>
            <a:r>
              <a:rPr lang="en-US" sz="1600" dirty="0">
                <a:latin typeface="Times New Roman" panose="02020603050405020304" pitchFamily="18" charset="0"/>
                <a:cs typeface="Times New Roman" panose="02020603050405020304" pitchFamily="18" charset="0"/>
              </a:rPr>
              <a:t> - The task queue system allows one robot to work continuously across an entire plantation without human intervention, handling hundreds of trees efficiently.</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Real-Time Farm Intelligence</a:t>
            </a:r>
            <a:r>
              <a:rPr lang="en-US" sz="1600" dirty="0">
                <a:latin typeface="Times New Roman" panose="02020603050405020304" pitchFamily="18" charset="0"/>
                <a:cs typeface="Times New Roman" panose="02020603050405020304" pitchFamily="18" charset="0"/>
              </a:rPr>
              <a:t> - The live dashboard and GPS map give farmers instant visibility into every tree's status, coconut count, and harvest progress from any device.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Farmer-Controlled Preferences</a:t>
            </a:r>
            <a:r>
              <a:rPr lang="en-US" sz="1600" dirty="0">
                <a:latin typeface="Times New Roman" panose="02020603050405020304" pitchFamily="18" charset="0"/>
                <a:cs typeface="Times New Roman" panose="02020603050405020304" pitchFamily="18" charset="0"/>
              </a:rPr>
              <a:t> - Farmers can choose to harvest mature coconuts, tender coconuts, or both giving full control over what gets harvested without changing the system.</a:t>
            </a:r>
          </a:p>
        </p:txBody>
      </p:sp>
      <p:sp>
        <p:nvSpPr>
          <p:cNvPr id="5" name="Footer Placeholder 4">
            <a:extLst>
              <a:ext uri="{FF2B5EF4-FFF2-40B4-BE49-F238E27FC236}">
                <a16:creationId xmlns:a16="http://schemas.microsoft.com/office/drawing/2014/main" id="{1F138C2F-141B-BFA5-AF7F-34B92E23A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6C3805-1313-1240-7190-A11D9B2FDB88}"/>
              </a:ext>
            </a:extLst>
          </p:cNvPr>
          <p:cNvSpPr>
            <a:spLocks noGrp="1"/>
          </p:cNvSpPr>
          <p:nvPr>
            <p:ph type="sldNum" sz="quarter" idx="12"/>
          </p:nvPr>
        </p:nvSpPr>
        <p:spPr/>
        <p:txBody>
          <a:bodyPr/>
          <a:lstStyle/>
          <a:p>
            <a:fld id="{8C89584D-E97D-47EB-8490-6F36AE365490}" type="slidenum">
              <a:rPr lang="en-IN" smtClean="0"/>
              <a:pPr/>
              <a:t>11</a:t>
            </a:fld>
            <a:endParaRPr lang="en-IN"/>
          </a:p>
        </p:txBody>
      </p:sp>
    </p:spTree>
    <p:extLst>
      <p:ext uri="{BB962C8B-B14F-4D97-AF65-F5344CB8AC3E}">
        <p14:creationId xmlns:p14="http://schemas.microsoft.com/office/powerpoint/2010/main" val="603515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53D9-121E-7DDF-6494-895B32642066}"/>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97CB0E71-C5EF-6296-1FEC-05D8FED48386}"/>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7EB7F58D-5DC9-8DE8-8D9C-2BC5AB5CA9FB}"/>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CC605B7A-C1D6-1561-8186-37E9351B2B86}"/>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DD05BE82-169C-59DC-6A36-C6F955C47447}"/>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07E76940-9C20-8423-B3E7-755B6DEA50DC}"/>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FD10CB6A-9D95-C1F3-AD64-2BD6A032A9CB}"/>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Expected Outcome</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1620086D-E1D3-26F0-8D76-8E8F6C67D2BB}"/>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98FAB5C5-D792-2490-20A6-48562C6AB3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494BEDA8-6F65-281E-87E0-C2A21EC2FA7F}"/>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68FC8A39-56B1-ED73-0964-DA6FE4E52950}"/>
              </a:ext>
            </a:extLst>
          </p:cNvPr>
          <p:cNvSpPr txBox="1"/>
          <p:nvPr/>
        </p:nvSpPr>
        <p:spPr>
          <a:xfrm>
            <a:off x="889613" y="2095412"/>
            <a:ext cx="10405241" cy="3539430"/>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 automated drone scanning system capable of detecting and GPS-tagging coconut trees across any plantation without manual input.</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trained YOLOv8 model that accurately classifies coconuts as mature or tender from camera images with consistent confidence.</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smart task management system that generates and </a:t>
            </a:r>
            <a:r>
              <a:rPr lang="en-US" sz="1600" dirty="0" err="1">
                <a:latin typeface="Times New Roman" panose="02020603050405020304" pitchFamily="18" charset="0"/>
                <a:cs typeface="Times New Roman" panose="02020603050405020304" pitchFamily="18" charset="0"/>
              </a:rPr>
              <a:t>prioritises</a:t>
            </a:r>
            <a:r>
              <a:rPr lang="en-US" sz="1600" dirty="0">
                <a:latin typeface="Times New Roman" panose="02020603050405020304" pitchFamily="18" charset="0"/>
                <a:cs typeface="Times New Roman" panose="02020603050405020304" pitchFamily="18" charset="0"/>
              </a:rPr>
              <a:t> harvest tasks based on farmer preference and real-time detection data.</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tree-climbing robot that operates independently by reading tasks from the API and reporting task completion back to the system.</a:t>
            </a: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responsive web dashboard with an interactive map, giving farmers complete visibility over every tree and harvest task on their farm.</a:t>
            </a:r>
          </a:p>
        </p:txBody>
      </p:sp>
      <p:sp>
        <p:nvSpPr>
          <p:cNvPr id="5" name="Footer Placeholder 4">
            <a:extLst>
              <a:ext uri="{FF2B5EF4-FFF2-40B4-BE49-F238E27FC236}">
                <a16:creationId xmlns:a16="http://schemas.microsoft.com/office/drawing/2014/main" id="{861C2DBD-F9CA-3555-8428-C43627EA38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3A8143-551F-6291-B3C9-645D2702A985}"/>
              </a:ext>
            </a:extLst>
          </p:cNvPr>
          <p:cNvSpPr>
            <a:spLocks noGrp="1"/>
          </p:cNvSpPr>
          <p:nvPr>
            <p:ph type="sldNum" sz="quarter" idx="12"/>
          </p:nvPr>
        </p:nvSpPr>
        <p:spPr/>
        <p:txBody>
          <a:bodyPr/>
          <a:lstStyle/>
          <a:p>
            <a:fld id="{8C89584D-E97D-47EB-8490-6F36AE365490}" type="slidenum">
              <a:rPr lang="en-IN" smtClean="0"/>
              <a:pPr/>
              <a:t>12</a:t>
            </a:fld>
            <a:endParaRPr lang="en-IN"/>
          </a:p>
        </p:txBody>
      </p:sp>
    </p:spTree>
    <p:extLst>
      <p:ext uri="{BB962C8B-B14F-4D97-AF65-F5344CB8AC3E}">
        <p14:creationId xmlns:p14="http://schemas.microsoft.com/office/powerpoint/2010/main" val="2553552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40A1-573C-50D3-6624-3EEB03605506}"/>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7C64E6AA-9A21-4C85-88E9-97CA7B32B612}"/>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91EBE67F-BA30-EAF4-E955-292F946362B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8F36D879-18F4-4831-AC4A-16D78CC7F819}"/>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51B44E0A-8E2A-07B4-65E2-B7EE29261BD6}"/>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20D2A535-33FD-AEF2-2772-F1990DB93A8C}"/>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D08EA35-E888-F507-D276-1B968AFD9738}"/>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DD076C07-61DB-4072-84DB-39D260FFAA06}"/>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1CB7B2FB-954B-D5FF-704F-C6A01CF122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1DD87591-A0BC-00A8-58CF-AB018A92A5A3}"/>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BC9A44DB-A1B8-34F5-AE92-9D1E16AB9475}"/>
              </a:ext>
            </a:extLst>
          </p:cNvPr>
          <p:cNvSpPr txBox="1"/>
          <p:nvPr/>
        </p:nvSpPr>
        <p:spPr>
          <a:xfrm>
            <a:off x="889613" y="1996879"/>
            <a:ext cx="10405241" cy="4770537"/>
          </a:xfrm>
          <a:prstGeom prst="rect">
            <a:avLst/>
          </a:prstGeom>
          <a:noFill/>
        </p:spPr>
        <p:txBody>
          <a:bodyPr wrap="square" rtlCol="0">
            <a:spAutoFit/>
          </a:bodyPr>
          <a:lstStyle/>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Wibowo, S. et al. (2016). </a:t>
            </a:r>
            <a:r>
              <a:rPr lang="en-US" sz="1600" i="1" dirty="0">
                <a:latin typeface="Times New Roman" panose="02020603050405020304" pitchFamily="18" charset="0"/>
                <a:cs typeface="Times New Roman" panose="02020603050405020304" pitchFamily="18" charset="0"/>
              </a:rPr>
              <a:t>Autonomous Coconut Harvesting Robot.</a:t>
            </a:r>
            <a:r>
              <a:rPr lang="en-US" sz="1600" dirty="0">
                <a:latin typeface="Times New Roman" panose="02020603050405020304" pitchFamily="18" charset="0"/>
                <a:cs typeface="Times New Roman" panose="02020603050405020304" pitchFamily="18" charset="0"/>
              </a:rPr>
              <a:t> — End-to-end robotic system with climbing and fastening mechanism for coconut plantations.  https://www.scribd.com/document/910220402/wibowo2016</a:t>
            </a: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Rathod, A. et al. (2016). </a:t>
            </a:r>
            <a:r>
              <a:rPr lang="en-US" sz="1600" i="1" dirty="0">
                <a:latin typeface="Times New Roman" panose="02020603050405020304" pitchFamily="18" charset="0"/>
                <a:cs typeface="Times New Roman" panose="02020603050405020304" pitchFamily="18" charset="0"/>
              </a:rPr>
              <a:t>Autonomous Control and Implementation of Coconut Tree Climbing and Harvesting Robot.</a:t>
            </a:r>
            <a:r>
              <a:rPr lang="en-US" sz="1600" dirty="0">
                <a:latin typeface="Times New Roman" panose="02020603050405020304" pitchFamily="18" charset="0"/>
                <a:cs typeface="Times New Roman" panose="02020603050405020304" pitchFamily="18" charset="0"/>
              </a:rPr>
              <a:t> Procedia Computer Science, </a:t>
            </a:r>
            <a:r>
              <a:rPr lang="en-US" sz="1600" dirty="0" err="1">
                <a:latin typeface="Times New Roman" panose="02020603050405020304" pitchFamily="18" charset="0"/>
                <a:cs typeface="Times New Roman" panose="02020603050405020304" pitchFamily="18" charset="0"/>
              </a:rPr>
              <a:t>Elsevier.</a:t>
            </a:r>
            <a:r>
              <a:rPr lang="en-US" sz="1600" dirty="0" err="1">
                <a:latin typeface="Times New Roman" panose="02020603050405020304" pitchFamily="18" charset="0"/>
                <a:cs typeface="Times New Roman" panose="02020603050405020304" pitchFamily="18" charset="0"/>
                <a:hlinkClick r:id="rId5"/>
              </a:rPr>
              <a:t>sciencedirect</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Amrita University (2015). </a:t>
            </a:r>
            <a:r>
              <a:rPr lang="en-US" sz="1600" i="1" dirty="0">
                <a:latin typeface="Times New Roman" panose="02020603050405020304" pitchFamily="18" charset="0"/>
                <a:cs typeface="Times New Roman" panose="02020603050405020304" pitchFamily="18" charset="0"/>
              </a:rPr>
              <a:t>Prototype of a Coconut Harvesting Robot with Visual Feedback.</a:t>
            </a:r>
            <a:r>
              <a:rPr lang="en-US" sz="1600" dirty="0">
                <a:latin typeface="Times New Roman" panose="02020603050405020304" pitchFamily="18" charset="0"/>
                <a:cs typeface="Times New Roman" panose="02020603050405020304" pitchFamily="18" charset="0"/>
              </a:rPr>
              <a:t> Advances in Intelligent Systems and Computing, Springer </a:t>
            </a:r>
            <a:r>
              <a:rPr lang="en-US" sz="1600" dirty="0" err="1">
                <a:latin typeface="Times New Roman" panose="02020603050405020304" pitchFamily="18" charset="0"/>
                <a:cs typeface="Times New Roman" panose="02020603050405020304" pitchFamily="18" charset="0"/>
              </a:rPr>
              <a:t>India.</a:t>
            </a:r>
            <a:r>
              <a:rPr lang="en-US" sz="1600" dirty="0" err="1">
                <a:latin typeface="Times New Roman" panose="02020603050405020304" pitchFamily="18" charset="0"/>
                <a:cs typeface="Times New Roman" panose="02020603050405020304" pitchFamily="18" charset="0"/>
                <a:hlinkClick r:id="rId6"/>
              </a:rPr>
              <a:t>amrita</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IOSR Journal of Engineering (2025). </a:t>
            </a:r>
            <a:r>
              <a:rPr lang="en-US" sz="1600" i="1" dirty="0">
                <a:latin typeface="Times New Roman" panose="02020603050405020304" pitchFamily="18" charset="0"/>
                <a:cs typeface="Times New Roman" panose="02020603050405020304" pitchFamily="18" charset="0"/>
              </a:rPr>
              <a:t>Coconut Harvest Mechanization Robot (CHMR) — Autonomous Device for Optimizing Coconut Harvesting.</a:t>
            </a:r>
            <a:r>
              <a:rPr lang="en-US" sz="1600" dirty="0">
                <a:latin typeface="Times New Roman" panose="02020603050405020304" pitchFamily="18" charset="0"/>
                <a:cs typeface="Times New Roman" panose="02020603050405020304" pitchFamily="18" charset="0"/>
              </a:rPr>
              <a:t> Vol. 15, Issue 1.</a:t>
            </a:r>
            <a:r>
              <a:rPr lang="en-US" sz="1600" dirty="0">
                <a:latin typeface="Times New Roman" panose="02020603050405020304" pitchFamily="18" charset="0"/>
                <a:cs typeface="Times New Roman" panose="02020603050405020304" pitchFamily="18" charset="0"/>
                <a:hlinkClick r:id="rId7"/>
              </a:rPr>
              <a:t>iosrjen</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Journal of Engineering and Applied Innovation (2023). </a:t>
            </a:r>
            <a:r>
              <a:rPr lang="en-US" sz="1600" i="1" dirty="0">
                <a:latin typeface="Times New Roman" panose="02020603050405020304" pitchFamily="18" charset="0"/>
                <a:cs typeface="Times New Roman" panose="02020603050405020304" pitchFamily="18" charset="0"/>
              </a:rPr>
              <a:t>Status and Scope of Automated Coconut Harvester in India.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JEAI.</a:t>
            </a:r>
            <a:r>
              <a:rPr lang="en-US" sz="1600" dirty="0" err="1">
                <a:latin typeface="Times New Roman" panose="02020603050405020304" pitchFamily="18" charset="0"/>
                <a:cs typeface="Times New Roman" panose="02020603050405020304" pitchFamily="18" charset="0"/>
                <a:hlinkClick r:id="rId8"/>
              </a:rPr>
              <a:t>journaljeai</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JOUAV (2023). </a:t>
            </a:r>
            <a:r>
              <a:rPr lang="en-US" sz="1600" i="1" dirty="0">
                <a:latin typeface="Times New Roman" panose="02020603050405020304" pitchFamily="18" charset="0"/>
                <a:cs typeface="Times New Roman" panose="02020603050405020304" pitchFamily="18" charset="0"/>
              </a:rPr>
              <a:t>Agriculture Drones — Farming Drone for Crop Monitoring and Precision Farming.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jouav.com</a:t>
            </a:r>
            <a:r>
              <a:rPr lang="en-US" sz="1600" dirty="0">
                <a:latin typeface="Times New Roman" panose="02020603050405020304" pitchFamily="18" charset="0"/>
                <a:cs typeface="Times New Roman" panose="02020603050405020304" pitchFamily="18" charset="0"/>
              </a:rPr>
              <a:t>, October 2023.</a:t>
            </a:r>
            <a:r>
              <a:rPr lang="en-US" sz="1600" dirty="0">
                <a:latin typeface="Times New Roman" panose="02020603050405020304" pitchFamily="18" charset="0"/>
                <a:cs typeface="Times New Roman" panose="02020603050405020304" pitchFamily="18" charset="0"/>
                <a:hlinkClick r:id="rId9"/>
              </a:rPr>
              <a:t>jouav</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B2F1B31E-9622-5536-DC38-AF6B3A781C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B752A-5243-D20D-4A86-5F64C697CE84}"/>
              </a:ext>
            </a:extLst>
          </p:cNvPr>
          <p:cNvSpPr>
            <a:spLocks noGrp="1"/>
          </p:cNvSpPr>
          <p:nvPr>
            <p:ph type="sldNum" sz="quarter" idx="12"/>
          </p:nvPr>
        </p:nvSpPr>
        <p:spPr/>
        <p:txBody>
          <a:bodyPr/>
          <a:lstStyle/>
          <a:p>
            <a:fld id="{8C89584D-E97D-47EB-8490-6F36AE365490}" type="slidenum">
              <a:rPr lang="en-IN" smtClean="0"/>
              <a:pPr/>
              <a:t>13</a:t>
            </a:fld>
            <a:endParaRPr lang="en-IN"/>
          </a:p>
        </p:txBody>
      </p:sp>
    </p:spTree>
    <p:extLst>
      <p:ext uri="{BB962C8B-B14F-4D97-AF65-F5344CB8AC3E}">
        <p14:creationId xmlns:p14="http://schemas.microsoft.com/office/powerpoint/2010/main" val="3931404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42D5-92CB-30E4-FEE1-03F2E280BACD}"/>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9D1DE574-FDBA-8FE8-5D91-B5E2AA93DBD6}"/>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14D74F5A-8977-8EA2-051B-C9A1590F4A59}"/>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6DAA441A-3D1F-17F6-9B62-89907BCF78EF}"/>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3423A1A1-917E-CE0F-5DE2-85373BA87334}"/>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0CE0F518-27A2-A260-2B77-44FAA522C484}"/>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E444A6EE-59D4-5A3C-4C1D-4C139D14D36C}"/>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p:txBody>
      </p:sp>
      <p:sp>
        <p:nvSpPr>
          <p:cNvPr id="1048593" name="TextBox 2">
            <a:extLst>
              <a:ext uri="{FF2B5EF4-FFF2-40B4-BE49-F238E27FC236}">
                <a16:creationId xmlns:a16="http://schemas.microsoft.com/office/drawing/2014/main" id="{7C97A346-1480-EF6D-2739-1D6CA3F69BF0}"/>
              </a:ext>
            </a:extLst>
          </p:cNvPr>
          <p:cNvSpPr txBox="1"/>
          <p:nvPr/>
        </p:nvSpPr>
        <p:spPr>
          <a:xfrm>
            <a:off x="5454525" y="6488668"/>
            <a:ext cx="1500326"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2025-2026</a:t>
            </a:r>
            <a:endParaRPr lang="en-IN" sz="14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6C67FE6B-CFBC-B97A-C4F4-A1663CAA1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E1A3C3FF-99D1-1A58-24C3-31A6204420A3}"/>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4D093D15-0382-4656-8E51-398CD2670781}"/>
              </a:ext>
            </a:extLst>
          </p:cNvPr>
          <p:cNvSpPr txBox="1"/>
          <p:nvPr/>
        </p:nvSpPr>
        <p:spPr>
          <a:xfrm>
            <a:off x="889613" y="1679680"/>
            <a:ext cx="10405241" cy="5016758"/>
          </a:xfrm>
          <a:prstGeom prst="rect">
            <a:avLst/>
          </a:prstGeom>
          <a:noFill/>
        </p:spPr>
        <p:txBody>
          <a:bodyPr wrap="square" rtlCol="0">
            <a:spAutoFit/>
          </a:bodyPr>
          <a:lstStyle/>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International Journal of Advanced Computer Science and Applications (2023). </a:t>
            </a:r>
            <a:r>
              <a:rPr lang="en-US" sz="1600" i="1" dirty="0">
                <a:latin typeface="Times New Roman" panose="02020603050405020304" pitchFamily="18" charset="0"/>
                <a:cs typeface="Times New Roman" panose="02020603050405020304" pitchFamily="18" charset="0"/>
              </a:rPr>
              <a:t>Detection of Fruit using YOLOv8-based Single Stage Object Detection for Precision Agriculture.</a:t>
            </a:r>
            <a:r>
              <a:rPr lang="en-US" sz="1600" dirty="0">
                <a:latin typeface="Times New Roman" panose="02020603050405020304" pitchFamily="18" charset="0"/>
                <a:cs typeface="Times New Roman" panose="02020603050405020304" pitchFamily="18" charset="0"/>
              </a:rPr>
              <a:t> IJACSA, Vol. 14, Issue 12.</a:t>
            </a:r>
            <a:r>
              <a:rPr lang="en-US" sz="1600" dirty="0">
                <a:latin typeface="Times New Roman" panose="02020603050405020304" pitchFamily="18" charset="0"/>
                <a:cs typeface="Times New Roman" panose="02020603050405020304" pitchFamily="18" charset="0"/>
                <a:hlinkClick r:id="rId5"/>
              </a:rPr>
              <a:t>thesai</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Nature Scientific Reports (2024). </a:t>
            </a:r>
            <a:r>
              <a:rPr lang="en-US" sz="1600" i="1" dirty="0">
                <a:latin typeface="Times New Roman" panose="02020603050405020304" pitchFamily="18" charset="0"/>
                <a:cs typeface="Times New Roman" panose="02020603050405020304" pitchFamily="18" charset="0"/>
              </a:rPr>
              <a:t>YOLOv8-CML: A Lightweight Target Detection Method for Intelligent Agriculture.</a:t>
            </a:r>
            <a:r>
              <a:rPr lang="en-US" sz="1600" dirty="0">
                <a:latin typeface="Times New Roman" panose="02020603050405020304" pitchFamily="18" charset="0"/>
                <a:cs typeface="Times New Roman" panose="02020603050405020304" pitchFamily="18" charset="0"/>
              </a:rPr>
              <a:t> Nature, 2024.</a:t>
            </a:r>
            <a:r>
              <a:rPr lang="en-US" sz="1600" dirty="0">
                <a:latin typeface="Times New Roman" panose="02020603050405020304" pitchFamily="18" charset="0"/>
                <a:cs typeface="Times New Roman" panose="02020603050405020304" pitchFamily="18" charset="0"/>
                <a:hlinkClick r:id="rId6"/>
              </a:rPr>
              <a:t>nature</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Frontiers in Plant Science (2025). </a:t>
            </a:r>
            <a:r>
              <a:rPr lang="en-US" sz="1600" i="1" dirty="0">
                <a:latin typeface="Times New Roman" panose="02020603050405020304" pitchFamily="18" charset="0"/>
                <a:cs typeface="Times New Roman" panose="02020603050405020304" pitchFamily="18" charset="0"/>
              </a:rPr>
              <a:t>RLK-YOLOv8: Multi-Stage Detection of Fruits Using Improved YOLOv8.</a:t>
            </a:r>
            <a:r>
              <a:rPr lang="en-US" sz="1600" dirty="0">
                <a:latin typeface="Times New Roman" panose="02020603050405020304" pitchFamily="18" charset="0"/>
                <a:cs typeface="Times New Roman" panose="02020603050405020304" pitchFamily="18" charset="0"/>
              </a:rPr>
              <a:t> Frontiers, Vol. 16.</a:t>
            </a:r>
            <a:r>
              <a:rPr lang="en-US" sz="1600" dirty="0">
                <a:latin typeface="Times New Roman" panose="02020603050405020304" pitchFamily="18" charset="0"/>
                <a:cs typeface="Times New Roman" panose="02020603050405020304" pitchFamily="18" charset="0"/>
                <a:hlinkClick r:id="rId7"/>
              </a:rPr>
              <a:t>frontiersin</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CGIAR (2025). </a:t>
            </a:r>
            <a:r>
              <a:rPr lang="en-US" sz="1600" i="1" dirty="0">
                <a:latin typeface="Times New Roman" panose="02020603050405020304" pitchFamily="18" charset="0"/>
                <a:cs typeface="Times New Roman" panose="02020603050405020304" pitchFamily="18" charset="0"/>
              </a:rPr>
              <a:t>From Sky to Soil: How Drones are Revolutionizing Crop Monitoring.</a:t>
            </a:r>
            <a:r>
              <a:rPr lang="en-US" sz="1600" dirty="0">
                <a:latin typeface="Times New Roman" panose="02020603050405020304" pitchFamily="18" charset="0"/>
                <a:cs typeface="Times New Roman" panose="02020603050405020304" pitchFamily="18" charset="0"/>
              </a:rPr>
              <a:t> CGIAR Research, March 2025.</a:t>
            </a:r>
            <a:r>
              <a:rPr lang="en-US" sz="1600" dirty="0">
                <a:latin typeface="Times New Roman" panose="02020603050405020304" pitchFamily="18" charset="0"/>
                <a:cs typeface="Times New Roman" panose="02020603050405020304" pitchFamily="18" charset="0"/>
                <a:hlinkClick r:id="rId8"/>
              </a:rPr>
              <a:t>cigar</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Journal of Agricultural and Crop Research (2025). </a:t>
            </a:r>
            <a:r>
              <a:rPr lang="en-US" sz="1600" i="1" dirty="0">
                <a:latin typeface="Times New Roman" panose="02020603050405020304" pitchFamily="18" charset="0"/>
                <a:cs typeface="Times New Roman" panose="02020603050405020304" pitchFamily="18" charset="0"/>
              </a:rPr>
              <a:t>Optimizing Crop Monitoring Efficiency and Precision with Drone Technology.</a:t>
            </a:r>
            <a:r>
              <a:rPr lang="en-US" sz="1600" dirty="0">
                <a:latin typeface="Times New Roman" panose="02020603050405020304" pitchFamily="18" charset="0"/>
                <a:cs typeface="Times New Roman" panose="02020603050405020304" pitchFamily="18" charset="0"/>
              </a:rPr>
              <a:t> ACRI, 2025.</a:t>
            </a:r>
            <a:r>
              <a:rPr lang="en-US" sz="1600" dirty="0">
                <a:latin typeface="Times New Roman" panose="02020603050405020304" pitchFamily="18" charset="0"/>
                <a:cs typeface="Times New Roman" panose="02020603050405020304" pitchFamily="18" charset="0"/>
                <a:hlinkClick r:id="rId9"/>
              </a:rPr>
              <a:t>journalacri</a:t>
            </a: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12"/>
            </a:pPr>
            <a:r>
              <a:rPr lang="en-US" sz="1600" dirty="0">
                <a:latin typeface="Times New Roman" panose="02020603050405020304" pitchFamily="18" charset="0"/>
                <a:cs typeface="Times New Roman" panose="02020603050405020304" pitchFamily="18" charset="0"/>
              </a:rPr>
              <a:t>Equinox Drones (2024). </a:t>
            </a:r>
            <a:r>
              <a:rPr lang="en-US" sz="1600" i="1" dirty="0">
                <a:latin typeface="Times New Roman" panose="02020603050405020304" pitchFamily="18" charset="0"/>
                <a:cs typeface="Times New Roman" panose="02020603050405020304" pitchFamily="18" charset="0"/>
              </a:rPr>
              <a:t>Agriculture Drones for Precision Farming — UAV Aerial Imagery with Machine Learning.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equinoxsdrones.com</a:t>
            </a:r>
            <a:r>
              <a:rPr lang="en-US" sz="1600" dirty="0">
                <a:latin typeface="Times New Roman" panose="02020603050405020304" pitchFamily="18" charset="0"/>
                <a:cs typeface="Times New Roman" panose="02020603050405020304" pitchFamily="18" charset="0"/>
              </a:rPr>
              <a:t>, 2024.</a:t>
            </a:r>
            <a:r>
              <a:rPr lang="en-US" sz="1600" dirty="0">
                <a:latin typeface="Times New Roman" panose="02020603050405020304" pitchFamily="18" charset="0"/>
                <a:cs typeface="Times New Roman" panose="02020603050405020304" pitchFamily="18" charset="0"/>
                <a:hlinkClick r:id="rId10"/>
              </a:rPr>
              <a:t>equinoxsdrones</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D8E6151-5366-692D-46B7-9C12AED8DD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23AC3-FA94-65E0-0BC6-94763DC93B73}"/>
              </a:ext>
            </a:extLst>
          </p:cNvPr>
          <p:cNvSpPr>
            <a:spLocks noGrp="1"/>
          </p:cNvSpPr>
          <p:nvPr>
            <p:ph type="sldNum" sz="quarter" idx="12"/>
          </p:nvPr>
        </p:nvSpPr>
        <p:spPr/>
        <p:txBody>
          <a:bodyPr/>
          <a:lstStyle/>
          <a:p>
            <a:fld id="{8C89584D-E97D-47EB-8490-6F36AE365490}" type="slidenum">
              <a:rPr lang="en-IN" smtClean="0"/>
              <a:pPr/>
              <a:t>14</a:t>
            </a:fld>
            <a:endParaRPr lang="en-IN"/>
          </a:p>
        </p:txBody>
      </p:sp>
    </p:spTree>
    <p:extLst>
      <p:ext uri="{BB962C8B-B14F-4D97-AF65-F5344CB8AC3E}">
        <p14:creationId xmlns:p14="http://schemas.microsoft.com/office/powerpoint/2010/main" val="1833834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1121</TotalTime>
  <Words>2030</Words>
  <Application>Microsoft Macintosh PowerPoint</Application>
  <PresentationFormat>Widescreen</PresentationFormat>
  <Paragraphs>261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     Akshatha G                      4VM23CS001 Mahesh S                          4VM23CS033  S Mohammed Maaz         4VM23CS043  Syeda Umme Haani         4VM23CS055   </vt:lpstr>
      <vt:lpstr>PowerPoint Presentation</vt:lpstr>
      <vt:lpstr>     </vt:lpstr>
      <vt:lpstr>PowerPoint Presentation</vt:lpstr>
      <vt:lpstr>PowerPoint Presentation</vt:lpstr>
      <vt:lpstr>PowerPoint Presentation</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NAME                         USN      Brunda N                 - 4VM19IS007 Renuka S                 - 4VM19IS033 Shivani BM             - 4VM19IS037 Swathi R Bhat        - 4VM19IS042</dc:title>
  <dc:creator>Mohan babu S</dc:creator>
  <cp:lastModifiedBy>Mahesh S</cp:lastModifiedBy>
  <cp:revision>46</cp:revision>
  <cp:lastPrinted>2026-05-15T06:45:08Z</cp:lastPrinted>
  <dcterms:created xsi:type="dcterms:W3CDTF">2022-12-17T06:08:39Z</dcterms:created>
  <dcterms:modified xsi:type="dcterms:W3CDTF">2026-05-18T04:27:46Z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fb9ea83d22394265b3f8601dd4d1df6b</vt:lpwstr>
  </property>
</Properties>
</file>