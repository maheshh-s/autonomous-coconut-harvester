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5" r:id="rId2"/>
    <p:sldId id="278" r:id="rId3"/>
    <p:sldId id="279" r:id="rId4"/>
    <p:sldId id="281" r:id="rId5"/>
    <p:sldId id="282" r:id="rId6"/>
    <p:sldId id="283" r:id="rId7"/>
    <p:sldId id="284" r:id="rId8"/>
    <p:sldId id="285" r:id="rId9"/>
    <p:sldId id="286" r:id="rId10"/>
    <p:sldId id="289" r:id="rId11"/>
    <p:sldId id="287"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32" autoAdjust="0"/>
    <p:restoredTop sz="94660"/>
  </p:normalViewPr>
  <p:slideViewPr>
    <p:cSldViewPr snapToGrid="0">
      <p:cViewPr varScale="1">
        <p:scale>
          <a:sx n="121" d="100"/>
          <a:sy n="121" d="100"/>
        </p:scale>
        <p:origin x="176" y="192"/>
      </p:cViewPr>
      <p:guideLst>
        <p:guide orient="horz" pos="2160"/>
        <p:guide pos="3840"/>
      </p:guideLst>
    </p:cSldViewPr>
  </p:slideViewPr>
  <p:notesTextViewPr>
    <p:cViewPr>
      <p:scale>
        <a:sx n="1" d="1"/>
        <a:sy n="1" d="1"/>
      </p:scale>
      <p:origin x="0" y="0"/>
    </p:cViewPr>
  </p:notesTextViewPr>
  <p:sorterViewPr>
    <p:cViewPr>
      <p:scale>
        <a:sx n="100" d="100"/>
        <a:sy n="100" d="100"/>
      </p:scale>
      <p:origin x="0" y="-186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4"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05"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0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txBody>
          <a:bodyPr/>
          <a:lstStyle/>
          <a:p>
            <a:endParaRPr lang="en-IN"/>
          </a:p>
        </p:txBody>
      </p:sp>
      <p:sp>
        <p:nvSpPr>
          <p:cNvPr id="1048707"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8"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09"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extLst>
      <p:ext uri="{BB962C8B-B14F-4D97-AF65-F5344CB8AC3E}">
        <p14:creationId xmlns:p14="http://schemas.microsoft.com/office/powerpoint/2010/main" val="421536985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A0EA98-5831-4853-B862-C702E6EB345C}"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A2D0D-2C35-58B5-7106-26F544BB1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A4B0C3-6EBA-BE36-310D-D9CF25658C46}"/>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5168E547-475C-7C0D-10F0-6DBADCBA07C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D34C55C9-E30E-36F7-74E4-C4F1764BD061}"/>
              </a:ext>
            </a:extLst>
          </p:cNvPr>
          <p:cNvSpPr>
            <a:spLocks noGrp="1"/>
          </p:cNvSpPr>
          <p:nvPr>
            <p:ph type="sldNum" sz="quarter" idx="10"/>
          </p:nvPr>
        </p:nvSpPr>
        <p:spPr/>
        <p:txBody>
          <a:bodyPr/>
          <a:lstStyle/>
          <a:p>
            <a:fld id="{A9A0EA98-5831-4853-B862-C702E6EB345C}" type="slidenum">
              <a:rPr lang="en-US" smtClean="0"/>
              <a:pPr/>
              <a:t>4</a:t>
            </a:fld>
            <a:endParaRPr lang="en-US"/>
          </a:p>
        </p:txBody>
      </p:sp>
    </p:spTree>
    <p:extLst>
      <p:ext uri="{BB962C8B-B14F-4D97-AF65-F5344CB8AC3E}">
        <p14:creationId xmlns:p14="http://schemas.microsoft.com/office/powerpoint/2010/main" val="3637896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DC26B-E926-E22D-7B1D-E1B7DAA1A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02B7F-576F-B815-B005-0329D6E6031F}"/>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EFE613BE-ABFC-FDEB-C105-61004D76D9B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0FD53367-8F8C-63BC-FD67-B40D3BE4A18E}"/>
              </a:ext>
            </a:extLst>
          </p:cNvPr>
          <p:cNvSpPr>
            <a:spLocks noGrp="1"/>
          </p:cNvSpPr>
          <p:nvPr>
            <p:ph type="sldNum" sz="quarter" idx="10"/>
          </p:nvPr>
        </p:nvSpPr>
        <p:spPr/>
        <p:txBody>
          <a:bodyPr/>
          <a:lstStyle/>
          <a:p>
            <a:fld id="{A9A0EA98-5831-4853-B862-C702E6EB345C}" type="slidenum">
              <a:rPr lang="en-US" smtClean="0"/>
              <a:pPr/>
              <a:t>5</a:t>
            </a:fld>
            <a:endParaRPr lang="en-US"/>
          </a:p>
        </p:txBody>
      </p:sp>
    </p:spTree>
    <p:extLst>
      <p:ext uri="{BB962C8B-B14F-4D97-AF65-F5344CB8AC3E}">
        <p14:creationId xmlns:p14="http://schemas.microsoft.com/office/powerpoint/2010/main" val="3757207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04E3-EF00-048E-BF66-E5048ADAE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63B55-11EF-30A5-1849-A7BCFEF30124}"/>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8BD45F1F-CDD2-9350-AB5C-5E1A678761F0}"/>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8A7822D-5449-7598-8FB6-D13339FA0151}"/>
              </a:ext>
            </a:extLst>
          </p:cNvPr>
          <p:cNvSpPr>
            <a:spLocks noGrp="1"/>
          </p:cNvSpPr>
          <p:nvPr>
            <p:ph type="sldNum" sz="quarter" idx="10"/>
          </p:nvPr>
        </p:nvSpPr>
        <p:spPr/>
        <p:txBody>
          <a:bodyPr/>
          <a:lstStyle/>
          <a:p>
            <a:fld id="{A9A0EA98-5831-4853-B862-C702E6EB345C}" type="slidenum">
              <a:rPr lang="en-US" smtClean="0"/>
              <a:pPr/>
              <a:t>6</a:t>
            </a:fld>
            <a:endParaRPr lang="en-US"/>
          </a:p>
        </p:txBody>
      </p:sp>
    </p:spTree>
    <p:extLst>
      <p:ext uri="{BB962C8B-B14F-4D97-AF65-F5344CB8AC3E}">
        <p14:creationId xmlns:p14="http://schemas.microsoft.com/office/powerpoint/2010/main" val="2052682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B417-6E47-28A7-D848-9CA6F6938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720C2-1619-D686-0430-5ED519CB8BD3}"/>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5EBD2C74-FD38-5573-90A4-A7C485B76E09}"/>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D625774-90B2-FAC1-47CE-FF18C6112A8E}"/>
              </a:ext>
            </a:extLst>
          </p:cNvPr>
          <p:cNvSpPr>
            <a:spLocks noGrp="1"/>
          </p:cNvSpPr>
          <p:nvPr>
            <p:ph type="sldNum" sz="quarter" idx="10"/>
          </p:nvPr>
        </p:nvSpPr>
        <p:spPr/>
        <p:txBody>
          <a:bodyPr/>
          <a:lstStyle/>
          <a:p>
            <a:fld id="{A9A0EA98-5831-4853-B862-C702E6EB345C}" type="slidenum">
              <a:rPr lang="en-US" smtClean="0"/>
              <a:pPr/>
              <a:t>7</a:t>
            </a:fld>
            <a:endParaRPr lang="en-US"/>
          </a:p>
        </p:txBody>
      </p:sp>
    </p:spTree>
    <p:extLst>
      <p:ext uri="{BB962C8B-B14F-4D97-AF65-F5344CB8AC3E}">
        <p14:creationId xmlns:p14="http://schemas.microsoft.com/office/powerpoint/2010/main" val="339565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41AE3-65C5-C3F8-A072-566FE2C08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61808-3EDA-5281-29E4-60312B36D11A}"/>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886A9488-E032-0B40-7D39-8A9ACA1682B2}"/>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38FD6B3-969C-5186-289C-8AEEC44BB5F3}"/>
              </a:ext>
            </a:extLst>
          </p:cNvPr>
          <p:cNvSpPr>
            <a:spLocks noGrp="1"/>
          </p:cNvSpPr>
          <p:nvPr>
            <p:ph type="sldNum" sz="quarter" idx="10"/>
          </p:nvPr>
        </p:nvSpPr>
        <p:spPr/>
        <p:txBody>
          <a:bodyPr/>
          <a:lstStyle/>
          <a:p>
            <a:fld id="{A9A0EA98-5831-4853-B862-C702E6EB345C}" type="slidenum">
              <a:rPr lang="en-US" smtClean="0"/>
              <a:pPr/>
              <a:t>8</a:t>
            </a:fld>
            <a:endParaRPr lang="en-US"/>
          </a:p>
        </p:txBody>
      </p:sp>
    </p:spTree>
    <p:extLst>
      <p:ext uri="{BB962C8B-B14F-4D97-AF65-F5344CB8AC3E}">
        <p14:creationId xmlns:p14="http://schemas.microsoft.com/office/powerpoint/2010/main" val="977542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75B84-0E1D-7EEA-C7A9-1CAA39B04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CA73C-72C6-763F-6020-D5041BCF54F5}"/>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D33A906B-918E-79AA-2C2B-F7B71B4C15ED}"/>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8B1E2E58-E01E-FC51-F8F6-18845F05003D}"/>
              </a:ext>
            </a:extLst>
          </p:cNvPr>
          <p:cNvSpPr>
            <a:spLocks noGrp="1"/>
          </p:cNvSpPr>
          <p:nvPr>
            <p:ph type="sldNum" sz="quarter" idx="10"/>
          </p:nvPr>
        </p:nvSpPr>
        <p:spPr/>
        <p:txBody>
          <a:bodyPr/>
          <a:lstStyle/>
          <a:p>
            <a:fld id="{A9A0EA98-5831-4853-B862-C702E6EB345C}" type="slidenum">
              <a:rPr lang="en-US" smtClean="0"/>
              <a:pPr/>
              <a:t>9</a:t>
            </a:fld>
            <a:endParaRPr lang="en-US"/>
          </a:p>
        </p:txBody>
      </p:sp>
    </p:spTree>
    <p:extLst>
      <p:ext uri="{BB962C8B-B14F-4D97-AF65-F5344CB8AC3E}">
        <p14:creationId xmlns:p14="http://schemas.microsoft.com/office/powerpoint/2010/main" val="3226299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97F41-82DD-AE86-6F0B-7CB79B136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BCCD8-7B41-DB88-0343-F88BB8A298A7}"/>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32996B81-3E23-BDBC-5D38-D4633F83504D}"/>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DB1B76A-FA11-7D10-71D3-DBA806A806A9}"/>
              </a:ext>
            </a:extLst>
          </p:cNvPr>
          <p:cNvSpPr>
            <a:spLocks noGrp="1"/>
          </p:cNvSpPr>
          <p:nvPr>
            <p:ph type="sldNum" sz="quarter" idx="10"/>
          </p:nvPr>
        </p:nvSpPr>
        <p:spPr/>
        <p:txBody>
          <a:bodyPr/>
          <a:lstStyle/>
          <a:p>
            <a:fld id="{A9A0EA98-5831-4853-B862-C702E6EB345C}" type="slidenum">
              <a:rPr lang="en-US" smtClean="0"/>
              <a:pPr/>
              <a:t>10</a:t>
            </a:fld>
            <a:endParaRPr lang="en-US"/>
          </a:p>
        </p:txBody>
      </p:sp>
    </p:spTree>
    <p:extLst>
      <p:ext uri="{BB962C8B-B14F-4D97-AF65-F5344CB8AC3E}">
        <p14:creationId xmlns:p14="http://schemas.microsoft.com/office/powerpoint/2010/main" val="2923025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A7B22-8EFF-A8EE-6FA1-BBA20887B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C403EB-D0A0-F4C7-F80E-F7B109BECEDD}"/>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49A83537-7817-123B-A718-7A49AC2EE4D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669A5BC-D2EA-8A5D-433B-6CB80F2FE74F}"/>
              </a:ext>
            </a:extLst>
          </p:cNvPr>
          <p:cNvSpPr>
            <a:spLocks noGrp="1"/>
          </p:cNvSpPr>
          <p:nvPr>
            <p:ph type="sldNum" sz="quarter" idx="10"/>
          </p:nvPr>
        </p:nvSpPr>
        <p:spPr/>
        <p:txBody>
          <a:bodyPr/>
          <a:lstStyle/>
          <a:p>
            <a:fld id="{A9A0EA98-5831-4853-B862-C702E6EB345C}" type="slidenum">
              <a:rPr lang="en-US" smtClean="0"/>
              <a:pPr/>
              <a:t>11</a:t>
            </a:fld>
            <a:endParaRPr lang="en-US"/>
          </a:p>
        </p:txBody>
      </p:sp>
    </p:spTree>
    <p:extLst>
      <p:ext uri="{BB962C8B-B14F-4D97-AF65-F5344CB8AC3E}">
        <p14:creationId xmlns:p14="http://schemas.microsoft.com/office/powerpoint/2010/main" val="980943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5CCA-FDD9-BA94-A60E-E7BA79B05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1626F-8A18-F35C-189A-DC404B3C7A10}"/>
              </a:ext>
            </a:extLst>
          </p:cNvPr>
          <p:cNvSpPr>
            <a:spLocks noGrp="1" noRot="1" noChangeAspect="1"/>
          </p:cNvSpPr>
          <p:nvPr>
            <p:ph type="sldImg"/>
          </p:nvPr>
        </p:nvSpPr>
        <p:spPr>
          <a:xfrm>
            <a:off x="138113" y="766763"/>
            <a:ext cx="6823075" cy="3838575"/>
          </a:xfrm>
        </p:spPr>
        <p:txBody>
          <a:bodyPr/>
          <a:lstStyle/>
          <a:p>
            <a:endParaRPr lang="en-IN"/>
          </a:p>
        </p:txBody>
      </p:sp>
      <p:sp>
        <p:nvSpPr>
          <p:cNvPr id="3" name="Notes Placeholder 2">
            <a:extLst>
              <a:ext uri="{FF2B5EF4-FFF2-40B4-BE49-F238E27FC236}">
                <a16:creationId xmlns:a16="http://schemas.microsoft.com/office/drawing/2014/main" id="{63A00C2D-7C3B-FC2A-4E1C-8E46B8F8B135}"/>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D713CF8-EA2D-A3BF-F18A-2D048138AB2D}"/>
              </a:ext>
            </a:extLst>
          </p:cNvPr>
          <p:cNvSpPr>
            <a:spLocks noGrp="1"/>
          </p:cNvSpPr>
          <p:nvPr>
            <p:ph type="sldNum" sz="quarter" idx="10"/>
          </p:nvPr>
        </p:nvSpPr>
        <p:spPr/>
        <p:txBody>
          <a:bodyPr/>
          <a:lstStyle/>
          <a:p>
            <a:fld id="{A9A0EA98-5831-4853-B862-C702E6EB345C}" type="slidenum">
              <a:rPr lang="en-US" smtClean="0"/>
              <a:pPr/>
              <a:t>12</a:t>
            </a:fld>
            <a:endParaRPr lang="en-US"/>
          </a:p>
        </p:txBody>
      </p:sp>
    </p:spTree>
    <p:extLst>
      <p:ext uri="{BB962C8B-B14F-4D97-AF65-F5344CB8AC3E}">
        <p14:creationId xmlns:p14="http://schemas.microsoft.com/office/powerpoint/2010/main" val="761569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83" name="Date Placeholder 3"/>
          <p:cNvSpPr>
            <a:spLocks noGrp="1"/>
          </p:cNvSpPr>
          <p:nvPr>
            <p:ph type="dt" sz="half" idx="10"/>
          </p:nvPr>
        </p:nvSpPr>
        <p:spPr/>
        <p:txBody>
          <a:bodyPr/>
          <a:lstStyle/>
          <a:p>
            <a:fld id="{325A7EAD-48CD-854E-8F50-F90A47B1BB6E}" type="datetime1">
              <a:rPr lang="en-US" smtClean="0"/>
              <a:t>8/14/26</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0" name="Title 1"/>
          <p:cNvSpPr>
            <a:spLocks noGrp="1"/>
          </p:cNvSpPr>
          <p:nvPr>
            <p:ph type="title"/>
          </p:nvPr>
        </p:nvSpPr>
        <p:spPr/>
        <p:txBody>
          <a:bodyPr/>
          <a:lstStyle/>
          <a:p>
            <a:r>
              <a:rPr lang="en-US"/>
              <a:t>Click to edit Master title style</a:t>
            </a:r>
            <a:endParaRPr lang="en-IN"/>
          </a:p>
        </p:txBody>
      </p:sp>
      <p:sp>
        <p:nvSpPr>
          <p:cNvPr id="104866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2" name="Date Placeholder 3"/>
          <p:cNvSpPr>
            <a:spLocks noGrp="1"/>
          </p:cNvSpPr>
          <p:nvPr>
            <p:ph type="dt" sz="half" idx="10"/>
          </p:nvPr>
        </p:nvSpPr>
        <p:spPr/>
        <p:txBody>
          <a:bodyPr/>
          <a:lstStyle/>
          <a:p>
            <a:fld id="{53CB5AA6-E059-BF4F-AC1B-86CBE863E554}" type="datetime1">
              <a:rPr lang="en-US" smtClean="0"/>
              <a:t>8/14/26</a:t>
            </a:fld>
            <a:endParaRPr lang="en-IN"/>
          </a:p>
        </p:txBody>
      </p:sp>
      <p:sp>
        <p:nvSpPr>
          <p:cNvPr id="1048663" name="Footer Placeholder 4"/>
          <p:cNvSpPr>
            <a:spLocks noGrp="1"/>
          </p:cNvSpPr>
          <p:nvPr>
            <p:ph type="ftr" sz="quarter" idx="11"/>
          </p:nvPr>
        </p:nvSpPr>
        <p:spPr/>
        <p:txBody>
          <a:bodyPr/>
          <a:lstStyle/>
          <a:p>
            <a:endParaRPr lang="en-IN"/>
          </a:p>
        </p:txBody>
      </p:sp>
      <p:sp>
        <p:nvSpPr>
          <p:cNvPr id="1048664"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76"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7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78" name="Date Placeholder 3"/>
          <p:cNvSpPr>
            <a:spLocks noGrp="1"/>
          </p:cNvSpPr>
          <p:nvPr>
            <p:ph type="dt" sz="half" idx="10"/>
          </p:nvPr>
        </p:nvSpPr>
        <p:spPr/>
        <p:txBody>
          <a:bodyPr/>
          <a:lstStyle/>
          <a:p>
            <a:fld id="{46923932-4468-E147-8E84-37E90BA07751}" type="datetime1">
              <a:rPr lang="en-US" smtClean="0"/>
              <a:t>8/14/26</a:t>
            </a:fld>
            <a:endParaRPr lang="en-IN"/>
          </a:p>
        </p:txBody>
      </p:sp>
      <p:sp>
        <p:nvSpPr>
          <p:cNvPr id="1048679" name="Footer Placeholder 4"/>
          <p:cNvSpPr>
            <a:spLocks noGrp="1"/>
          </p:cNvSpPr>
          <p:nvPr>
            <p:ph type="ftr" sz="quarter" idx="11"/>
          </p:nvPr>
        </p:nvSpPr>
        <p:spPr/>
        <p:txBody>
          <a:bodyPr/>
          <a:lstStyle/>
          <a:p>
            <a:endParaRPr lang="en-IN"/>
          </a:p>
        </p:txBody>
      </p:sp>
      <p:sp>
        <p:nvSpPr>
          <p:cNvPr id="1048680"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1" name="Title 1"/>
          <p:cNvSpPr>
            <a:spLocks noGrp="1"/>
          </p:cNvSpPr>
          <p:nvPr>
            <p:ph type="title"/>
          </p:nvPr>
        </p:nvSpPr>
        <p:spPr/>
        <p:txBody>
          <a:bodyPr/>
          <a:lstStyle/>
          <a:p>
            <a:r>
              <a:rPr lang="en-US"/>
              <a:t>Click to edit Master title style</a:t>
            </a:r>
            <a:endParaRPr lang="en-IN"/>
          </a:p>
        </p:txBody>
      </p:sp>
      <p:sp>
        <p:nvSpPr>
          <p:cNvPr id="104868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4" name="Date Placeholder 4"/>
          <p:cNvSpPr>
            <a:spLocks noGrp="1"/>
          </p:cNvSpPr>
          <p:nvPr>
            <p:ph type="dt" sz="half" idx="10"/>
          </p:nvPr>
        </p:nvSpPr>
        <p:spPr/>
        <p:txBody>
          <a:bodyPr/>
          <a:lstStyle/>
          <a:p>
            <a:fld id="{19095586-EA31-EE40-8666-0F4C77239E1D}" type="datetime1">
              <a:rPr lang="en-US" smtClean="0"/>
              <a:t>8/14/26</a:t>
            </a:fld>
            <a:endParaRPr lang="en-IN"/>
          </a:p>
        </p:txBody>
      </p:sp>
      <p:sp>
        <p:nvSpPr>
          <p:cNvPr id="1048685" name="Footer Placeholder 5"/>
          <p:cNvSpPr>
            <a:spLocks noGrp="1"/>
          </p:cNvSpPr>
          <p:nvPr>
            <p:ph type="ftr" sz="quarter" idx="11"/>
          </p:nvPr>
        </p:nvSpPr>
        <p:spPr/>
        <p:txBody>
          <a:bodyPr/>
          <a:lstStyle/>
          <a:p>
            <a:endParaRPr lang="en-IN"/>
          </a:p>
        </p:txBody>
      </p:sp>
      <p:sp>
        <p:nvSpPr>
          <p:cNvPr id="1048686" name="Slide Number Placeholder 6"/>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87"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8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9"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0"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1"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2" name="Date Placeholder 6"/>
          <p:cNvSpPr>
            <a:spLocks noGrp="1"/>
          </p:cNvSpPr>
          <p:nvPr>
            <p:ph type="dt" sz="half" idx="10"/>
          </p:nvPr>
        </p:nvSpPr>
        <p:spPr/>
        <p:txBody>
          <a:bodyPr/>
          <a:lstStyle/>
          <a:p>
            <a:fld id="{F6113491-233D-6449-B331-96E7A063AC52}" type="datetime1">
              <a:rPr lang="en-US" smtClean="0"/>
              <a:t>8/14/26</a:t>
            </a:fld>
            <a:endParaRPr lang="en-IN"/>
          </a:p>
        </p:txBody>
      </p:sp>
      <p:sp>
        <p:nvSpPr>
          <p:cNvPr id="1048693" name="Footer Placeholder 7"/>
          <p:cNvSpPr>
            <a:spLocks noGrp="1"/>
          </p:cNvSpPr>
          <p:nvPr>
            <p:ph type="ftr" sz="quarter" idx="11"/>
          </p:nvPr>
        </p:nvSpPr>
        <p:spPr/>
        <p:txBody>
          <a:bodyPr/>
          <a:lstStyle/>
          <a:p>
            <a:endParaRPr lang="en-IN"/>
          </a:p>
        </p:txBody>
      </p:sp>
      <p:sp>
        <p:nvSpPr>
          <p:cNvPr id="1048694" name="Slide Number Placeholder 8"/>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endParaRPr lang="en-IN"/>
          </a:p>
        </p:txBody>
      </p:sp>
      <p:sp>
        <p:nvSpPr>
          <p:cNvPr id="1048652" name="Date Placeholder 2"/>
          <p:cNvSpPr>
            <a:spLocks noGrp="1"/>
          </p:cNvSpPr>
          <p:nvPr>
            <p:ph type="dt" sz="half" idx="10"/>
          </p:nvPr>
        </p:nvSpPr>
        <p:spPr/>
        <p:txBody>
          <a:bodyPr/>
          <a:lstStyle/>
          <a:p>
            <a:fld id="{BAE08A49-EA91-C741-9B5D-13DF16F9167B}" type="datetime1">
              <a:rPr lang="en-US" smtClean="0"/>
              <a:t>8/14/26</a:t>
            </a:fld>
            <a:endParaRPr lang="en-IN"/>
          </a:p>
        </p:txBody>
      </p:sp>
      <p:sp>
        <p:nvSpPr>
          <p:cNvPr id="1048653" name="Footer Placeholder 3"/>
          <p:cNvSpPr>
            <a:spLocks noGrp="1"/>
          </p:cNvSpPr>
          <p:nvPr>
            <p:ph type="ftr" sz="quarter" idx="11"/>
          </p:nvPr>
        </p:nvSpPr>
        <p:spPr/>
        <p:txBody>
          <a:bodyPr/>
          <a:lstStyle/>
          <a:p>
            <a:endParaRPr lang="en-IN"/>
          </a:p>
        </p:txBody>
      </p:sp>
      <p:sp>
        <p:nvSpPr>
          <p:cNvPr id="1048654" name="Slide Number Placeholder 4"/>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95" name="Date Placeholder 1"/>
          <p:cNvSpPr>
            <a:spLocks noGrp="1"/>
          </p:cNvSpPr>
          <p:nvPr>
            <p:ph type="dt" sz="half" idx="10"/>
          </p:nvPr>
        </p:nvSpPr>
        <p:spPr/>
        <p:txBody>
          <a:bodyPr/>
          <a:lstStyle/>
          <a:p>
            <a:fld id="{206F8C14-27D0-C348-B670-8E610488DDCB}" type="datetime1">
              <a:rPr lang="en-US" smtClean="0"/>
              <a:t>8/14/26</a:t>
            </a:fld>
            <a:endParaRPr lang="en-IN"/>
          </a:p>
        </p:txBody>
      </p:sp>
      <p:sp>
        <p:nvSpPr>
          <p:cNvPr id="1048696" name="Footer Placeholder 2"/>
          <p:cNvSpPr>
            <a:spLocks noGrp="1"/>
          </p:cNvSpPr>
          <p:nvPr>
            <p:ph type="ftr" sz="quarter" idx="11"/>
          </p:nvPr>
        </p:nvSpPr>
        <p:spPr/>
        <p:txBody>
          <a:bodyPr/>
          <a:lstStyle/>
          <a:p>
            <a:endParaRPr lang="en-IN"/>
          </a:p>
        </p:txBody>
      </p:sp>
      <p:sp>
        <p:nvSpPr>
          <p:cNvPr id="1048697" name="Slide Number Placeholder 3"/>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8"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99"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0"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1" name="Date Placeholder 4"/>
          <p:cNvSpPr>
            <a:spLocks noGrp="1"/>
          </p:cNvSpPr>
          <p:nvPr>
            <p:ph type="dt" sz="half" idx="10"/>
          </p:nvPr>
        </p:nvSpPr>
        <p:spPr/>
        <p:txBody>
          <a:bodyPr/>
          <a:lstStyle/>
          <a:p>
            <a:fld id="{DBB95011-B19B-014C-9920-9B2627AFF89C}" type="datetime1">
              <a:rPr lang="en-US" smtClean="0"/>
              <a:t>8/14/26</a:t>
            </a:fld>
            <a:endParaRPr lang="en-IN"/>
          </a:p>
        </p:txBody>
      </p:sp>
      <p:sp>
        <p:nvSpPr>
          <p:cNvPr id="1048702" name="Footer Placeholder 5"/>
          <p:cNvSpPr>
            <a:spLocks noGrp="1"/>
          </p:cNvSpPr>
          <p:nvPr>
            <p:ph type="ftr" sz="quarter" idx="11"/>
          </p:nvPr>
        </p:nvSpPr>
        <p:spPr/>
        <p:txBody>
          <a:bodyPr/>
          <a:lstStyle/>
          <a:p>
            <a:endParaRPr lang="en-IN"/>
          </a:p>
        </p:txBody>
      </p:sp>
      <p:sp>
        <p:nvSpPr>
          <p:cNvPr id="1048703" name="Slide Number Placeholder 6"/>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6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66"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6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68" name="Date Placeholder 4"/>
          <p:cNvSpPr>
            <a:spLocks noGrp="1"/>
          </p:cNvSpPr>
          <p:nvPr>
            <p:ph type="dt" sz="half" idx="10"/>
          </p:nvPr>
        </p:nvSpPr>
        <p:spPr/>
        <p:txBody>
          <a:bodyPr/>
          <a:lstStyle/>
          <a:p>
            <a:fld id="{E9584B8D-B9AF-594F-B53D-F9291FA252FF}" type="datetime1">
              <a:rPr lang="en-US" smtClean="0"/>
              <a:t>8/14/26</a:t>
            </a:fld>
            <a:endParaRPr lang="en-IN"/>
          </a:p>
        </p:txBody>
      </p:sp>
      <p:sp>
        <p:nvSpPr>
          <p:cNvPr id="1048669" name="Footer Placeholder 5"/>
          <p:cNvSpPr>
            <a:spLocks noGrp="1"/>
          </p:cNvSpPr>
          <p:nvPr>
            <p:ph type="ftr" sz="quarter" idx="11"/>
          </p:nvPr>
        </p:nvSpPr>
        <p:spPr/>
        <p:txBody>
          <a:bodyPr/>
          <a:lstStyle/>
          <a:p>
            <a:endParaRPr lang="en-IN"/>
          </a:p>
        </p:txBody>
      </p:sp>
      <p:sp>
        <p:nvSpPr>
          <p:cNvPr id="1048670" name="Slide Number Placeholder 6"/>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71" name="Title 1"/>
          <p:cNvSpPr>
            <a:spLocks noGrp="1"/>
          </p:cNvSpPr>
          <p:nvPr>
            <p:ph type="title"/>
          </p:nvPr>
        </p:nvSpPr>
        <p:spPr/>
        <p:txBody>
          <a:bodyPr/>
          <a:lstStyle/>
          <a:p>
            <a:r>
              <a:rPr lang="en-US"/>
              <a:t>Click to edit Master title style</a:t>
            </a:r>
            <a:endParaRPr lang="en-IN"/>
          </a:p>
        </p:txBody>
      </p:sp>
      <p:sp>
        <p:nvSpPr>
          <p:cNvPr id="104867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3" name="Date Placeholder 3"/>
          <p:cNvSpPr>
            <a:spLocks noGrp="1"/>
          </p:cNvSpPr>
          <p:nvPr>
            <p:ph type="dt" sz="half" idx="10"/>
          </p:nvPr>
        </p:nvSpPr>
        <p:spPr/>
        <p:txBody>
          <a:bodyPr/>
          <a:lstStyle/>
          <a:p>
            <a:fld id="{EA202365-8C13-944D-AA87-A8455CD4D165}" type="datetime1">
              <a:rPr lang="en-US" smtClean="0"/>
              <a:t>8/14/26</a:t>
            </a:fld>
            <a:endParaRPr lang="en-IN"/>
          </a:p>
        </p:txBody>
      </p:sp>
      <p:sp>
        <p:nvSpPr>
          <p:cNvPr id="1048674" name="Footer Placeholder 4"/>
          <p:cNvSpPr>
            <a:spLocks noGrp="1"/>
          </p:cNvSpPr>
          <p:nvPr>
            <p:ph type="ftr" sz="quarter" idx="11"/>
          </p:nvPr>
        </p:nvSpPr>
        <p:spPr/>
        <p:txBody>
          <a:bodyPr/>
          <a:lstStyle/>
          <a:p>
            <a:endParaRPr lang="en-IN"/>
          </a:p>
        </p:txBody>
      </p:sp>
      <p:sp>
        <p:nvSpPr>
          <p:cNvPr id="1048675"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55"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56"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7" name="Date Placeholder 3"/>
          <p:cNvSpPr>
            <a:spLocks noGrp="1"/>
          </p:cNvSpPr>
          <p:nvPr>
            <p:ph type="dt" sz="half" idx="10"/>
          </p:nvPr>
        </p:nvSpPr>
        <p:spPr/>
        <p:txBody>
          <a:bodyPr/>
          <a:lstStyle/>
          <a:p>
            <a:fld id="{5D29661D-26B9-6848-897E-546262BC7C49}" type="datetime1">
              <a:rPr lang="en-US" smtClean="0"/>
              <a:t>8/14/26</a:t>
            </a:fld>
            <a:endParaRPr lang="en-IN"/>
          </a:p>
        </p:txBody>
      </p:sp>
      <p:sp>
        <p:nvSpPr>
          <p:cNvPr id="1048658" name="Footer Placeholder 4"/>
          <p:cNvSpPr>
            <a:spLocks noGrp="1"/>
          </p:cNvSpPr>
          <p:nvPr>
            <p:ph type="ftr" sz="quarter" idx="11"/>
          </p:nvPr>
        </p:nvSpPr>
        <p:spPr/>
        <p:txBody>
          <a:bodyPr/>
          <a:lstStyle/>
          <a:p>
            <a:endParaRPr lang="en-IN"/>
          </a:p>
        </p:txBody>
      </p:sp>
      <p:sp>
        <p:nvSpPr>
          <p:cNvPr id="1048659" name="Slide Number Placeholder 5"/>
          <p:cNvSpPr>
            <a:spLocks noGrp="1"/>
          </p:cNvSpPr>
          <p:nvPr>
            <p:ph type="sldNum" sz="quarter" idx="12"/>
          </p:nvPr>
        </p:nvSpPr>
        <p:spPr/>
        <p:txBody>
          <a:bodyPr/>
          <a:lstStyle/>
          <a:p>
            <a:fld id="{8C89584D-E97D-47EB-8490-6F36AE365490}"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5208C-0D48-1F45-8E0C-101AA1420B2D}" type="datetime1">
              <a:rPr lang="en-US" smtClean="0"/>
              <a:t>8/14/26</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89584D-E97D-47EB-8490-6F36AE365490}"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hyperlink" Target="https://journaljeai.com/index.php/JEAI/article/view/2115" TargetMode="External"/><Relationship Id="rId3" Type="http://schemas.openxmlformats.org/officeDocument/2006/relationships/image" Target="../media/image1.jpeg"/><Relationship Id="rId7" Type="http://schemas.openxmlformats.org/officeDocument/2006/relationships/hyperlink" Target="https://www.iosrjen.org/Papers/vol15_issue1/D15013544.pdf"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www.amrita.edu/publication/prototype-of-a-coconut-harvesting-robot-with-visual-feedback/" TargetMode="External"/><Relationship Id="rId5" Type="http://schemas.openxmlformats.org/officeDocument/2006/relationships/hyperlink" Target="https://www.sciencedirect.com/science/article/pii/S1877050916306135" TargetMode="External"/><Relationship Id="rId4" Type="http://schemas.openxmlformats.org/officeDocument/2006/relationships/image" Target="../media/image2.png"/><Relationship Id="rId9" Type="http://schemas.openxmlformats.org/officeDocument/2006/relationships/hyperlink" Target="https://www.jouav.com/blog/agriculture-drone.html"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cgiar.org/news-events/news/from-sky-to-soil-how-drones-are-revolutionizing-crop-monitoring" TargetMode="External"/><Relationship Id="rId3" Type="http://schemas.openxmlformats.org/officeDocument/2006/relationships/image" Target="../media/image1.jpeg"/><Relationship Id="rId7" Type="http://schemas.openxmlformats.org/officeDocument/2006/relationships/hyperlink" Target="https://www.frontiersin.org/journals/plant-science/articles/10.3389/fpls.2025.1552553/ful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nature.com/articles/s41598-024-65293-w" TargetMode="External"/><Relationship Id="rId5" Type="http://schemas.openxmlformats.org/officeDocument/2006/relationships/hyperlink" Target="https://thesai.org/Publications/ViewPaper?Volume=14&amp;Issue=12&amp;Code=IJACSA&amp;SerialNo=8" TargetMode="External"/><Relationship Id="rId10" Type="http://schemas.openxmlformats.org/officeDocument/2006/relationships/hyperlink" Target="https://equinoxsdrones.com/agriculture/" TargetMode="External"/><Relationship Id="rId4" Type="http://schemas.openxmlformats.org/officeDocument/2006/relationships/image" Target="../media/image2.png"/><Relationship Id="rId9" Type="http://schemas.openxmlformats.org/officeDocument/2006/relationships/hyperlink" Target="https://journalacri.com/index.php/ACRI/article/view/13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4"/>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a:solidFill>
                  <a:schemeClr val="bg1"/>
                </a:solidFill>
                <a:latin typeface="Times New Roman" panose="02020603050405020304" pitchFamily="18" charset="0"/>
                <a:cs typeface="Times New Roman" panose="02020603050405020304" pitchFamily="18" charset="0"/>
              </a:rPr>
              <a:t>Vidya Vikas Institute of Engineering &amp; Technology, Mysuru</a:t>
            </a: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p:cNvSpPr>
            <a:spLocks noChangeArrowheads="1"/>
          </p:cNvSpPr>
          <p:nvPr/>
        </p:nvSpPr>
        <p:spPr bwMode="auto">
          <a:xfrm>
            <a:off x="2128003" y="1648635"/>
            <a:ext cx="7773510" cy="954107"/>
          </a:xfrm>
          <a:prstGeom prst="rect">
            <a:avLst/>
          </a:prstGeom>
          <a:noFill/>
          <a:ln>
            <a:noFill/>
          </a:ln>
        </p:spPr>
        <p:txBody>
          <a:bodyPr wrap="square">
            <a:spAutoFit/>
          </a:bodyPr>
          <a:lstStyle/>
          <a:p>
            <a:pPr algn="ctr"/>
            <a:r>
              <a:rPr lang="en-US" altLang="en-US" sz="2800" b="1" dirty="0">
                <a:latin typeface="Times New Roman" panose="02020603050405020304" pitchFamily="18" charset="0"/>
                <a:cs typeface="Times New Roman" pitchFamily="18" charset="0"/>
              </a:rPr>
              <a:t> </a:t>
            </a:r>
            <a:r>
              <a:rPr lang="en-US" sz="2800" b="1" dirty="0">
                <a:latin typeface="Times New Roman" panose="02020603050405020304" pitchFamily="18" charset="0"/>
                <a:cs typeface="Times New Roman" panose="02020603050405020304" pitchFamily="18" charset="0"/>
              </a:rPr>
              <a:t>AI POWERED AUTONOMOUS COCONUT HARVESTING SYSTEM </a:t>
            </a:r>
            <a:endParaRPr lang="en-US" altLang="en-US" sz="2800" b="1" dirty="0">
              <a:latin typeface="Times New Roman" panose="02020603050405020304" pitchFamily="18" charset="0"/>
              <a:cs typeface="Times New Roman" pitchFamily="18" charset="0"/>
            </a:endParaRPr>
          </a:p>
        </p:txBody>
      </p:sp>
      <p:sp>
        <p:nvSpPr>
          <p:cNvPr id="1048591" name="Rectangle 150"/>
          <p:cNvSpPr>
            <a:spLocks noGrp="1" noChangeArrowheads="1"/>
          </p:cNvSpPr>
          <p:nvPr>
            <p:ph type="ctrTitle"/>
          </p:nvPr>
        </p:nvSpPr>
        <p:spPr>
          <a:xfrm>
            <a:off x="4215370" y="2985293"/>
            <a:ext cx="3753728" cy="1506406"/>
          </a:xfrm>
        </p:spPr>
        <p:txBody>
          <a:bodyPr anchor="ctr">
            <a:normAutofit fontScale="90000"/>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r>
              <a:rPr lang="en-IN" sz="1700" b="1" dirty="0">
                <a:latin typeface="Times New Roman" panose="02020603050405020304" pitchFamily="18" charset="0"/>
                <a:cs typeface="Times New Roman" panose="02020603050405020304" pitchFamily="18" charset="0"/>
              </a:rPr>
              <a:t>Akshatha G                      4VM23CS001 Mahesh S                          4VM23CS033 </a:t>
            </a:r>
            <a:br>
              <a:rPr lang="en-IN" sz="1700" b="1"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S Mohammed Maaz         4VM23CS043 </a:t>
            </a:r>
            <a:br>
              <a:rPr lang="en-IN" sz="1700" b="1" dirty="0">
                <a:latin typeface="Times New Roman" panose="02020603050405020304" pitchFamily="18" charset="0"/>
                <a:cs typeface="Times New Roman" panose="02020603050405020304" pitchFamily="18" charset="0"/>
              </a:rPr>
            </a:br>
            <a:r>
              <a:rPr lang="en-IN" sz="1700" b="1" dirty="0">
                <a:latin typeface="Times New Roman" panose="02020603050405020304" pitchFamily="18" charset="0"/>
                <a:cs typeface="Times New Roman" panose="02020603050405020304" pitchFamily="18" charset="0"/>
              </a:rPr>
              <a:t>Syeda Umme Haani         4VM23CS055</a:t>
            </a:r>
            <a:r>
              <a:rPr lang="es-ES" altLang="en-US" sz="1700" b="1" dirty="0">
                <a:latin typeface="Times New Roman" pitchFamily="18" charset="0"/>
                <a:cs typeface="Times New Roman" pitchFamily="18" charset="0"/>
              </a:rPr>
              <a:t>  </a:t>
            </a:r>
            <a:br>
              <a:rPr lang="es-ES" altLang="en-US" sz="1700" b="1" dirty="0">
                <a:latin typeface="Times New Roman" pitchFamily="18" charset="0"/>
                <a:cs typeface="Times New Roman" pitchFamily="18" charset="0"/>
              </a:rPr>
            </a:br>
            <a:endParaRPr lang="zh-CN" altLang="en-US" sz="1700" dirty="0"/>
          </a:p>
        </p:txBody>
      </p:sp>
      <p:sp>
        <p:nvSpPr>
          <p:cNvPr id="2" name="TextBox 1"/>
          <p:cNvSpPr txBox="1"/>
          <p:nvPr/>
        </p:nvSpPr>
        <p:spPr>
          <a:xfrm>
            <a:off x="4358244" y="4655128"/>
            <a:ext cx="3847605" cy="1077218"/>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Under the guidance of</a:t>
            </a:r>
          </a:p>
          <a:p>
            <a:pPr algn="ctr"/>
            <a:r>
              <a:rPr lang="en-US" sz="1600" b="1" dirty="0">
                <a:latin typeface="Times New Roman" panose="02020603050405020304" pitchFamily="18" charset="0"/>
                <a:cs typeface="Times New Roman" panose="02020603050405020304" pitchFamily="18" charset="0"/>
              </a:rPr>
              <a:t> Dr. Madhu B K </a:t>
            </a:r>
          </a:p>
          <a:p>
            <a:pPr algn="ctr"/>
            <a:r>
              <a:rPr lang="en-US" sz="1600" b="1" dirty="0">
                <a:latin typeface="Times New Roman" panose="02020603050405020304" pitchFamily="18" charset="0"/>
                <a:cs typeface="Times New Roman" panose="02020603050405020304" pitchFamily="18" charset="0"/>
              </a:rPr>
              <a:t>Dean Of CSE</a:t>
            </a:r>
          </a:p>
          <a:p>
            <a:pPr algn="ctr"/>
            <a:r>
              <a:rPr lang="en-IN" sz="1600" b="1" dirty="0">
                <a:latin typeface="Times New Roman" panose="02020603050405020304" pitchFamily="18" charset="0"/>
                <a:cs typeface="Times New Roman" panose="02020603050405020304" pitchFamily="18" charset="0"/>
              </a:rPr>
              <a:t>VVIET</a:t>
            </a:r>
            <a:endParaRPr lang="en-US" sz="1600" b="1" kern="12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A0D3A1C-7E2F-00BA-2D49-12C8EEC731C3}"/>
              </a:ext>
            </a:extLst>
          </p:cNvPr>
          <p:cNvSpPr txBox="1"/>
          <p:nvPr/>
        </p:nvSpPr>
        <p:spPr>
          <a:xfrm>
            <a:off x="5116626" y="1255473"/>
            <a:ext cx="1971925"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Project on</a:t>
            </a:r>
            <a:endParaRPr lang="en-IN" sz="2000" dirty="0">
              <a:latin typeface="Times New Roman" panose="02020603050405020304" pitchFamily="18" charset="0"/>
              <a:cs typeface="Times New Roman" panose="02020603050405020304" pitchFamily="18" charset="0"/>
            </a:endParaRPr>
          </a:p>
        </p:txBody>
      </p:sp>
      <p:sp>
        <p:nvSpPr>
          <p:cNvPr id="3" name="Rectangle 150">
            <a:extLst>
              <a:ext uri="{FF2B5EF4-FFF2-40B4-BE49-F238E27FC236}">
                <a16:creationId xmlns:a16="http://schemas.microsoft.com/office/drawing/2014/main" id="{E15752E6-286A-9EC1-06A1-5181F1D0FEF7}"/>
              </a:ext>
            </a:extLst>
          </p:cNvPr>
          <p:cNvSpPr txBox="1">
            <a:spLocks noChangeArrowheads="1"/>
          </p:cNvSpPr>
          <p:nvPr/>
        </p:nvSpPr>
        <p:spPr>
          <a:xfrm>
            <a:off x="4137894" y="2727993"/>
            <a:ext cx="3753728" cy="384850"/>
          </a:xfrm>
          <a:prstGeom prst="rect">
            <a:avLst/>
          </a:prstGeom>
        </p:spPr>
        <p:txBody>
          <a:bodyPr vert="horz" lIns="91440" tIns="45720" rIns="91440" bIns="45720" rtlCol="0" anchor="ctr">
            <a:normAutofit fontScale="2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br>
              <a:rPr lang="es-ES" altLang="en-US" sz="1600" b="1" dirty="0">
                <a:latin typeface="Times New Roman" pitchFamily="18" charset="0"/>
                <a:cs typeface="Times New Roman" pitchFamily="18" charset="0"/>
              </a:rPr>
            </a:br>
            <a:r>
              <a:rPr lang="es-ES" altLang="en-US" sz="6400" b="1" dirty="0">
                <a:latin typeface="Times New Roman" pitchFamily="18" charset="0"/>
                <a:cs typeface="Times New Roman" pitchFamily="18" charset="0"/>
              </a:rPr>
              <a:t>PRESENTED BY</a:t>
            </a:r>
            <a:endParaRPr lang="zh-CN" altLang="en-US" sz="6400" dirty="0"/>
          </a:p>
        </p:txBody>
      </p:sp>
      <p:pic>
        <p:nvPicPr>
          <p:cNvPr id="5" name="Picture 7">
            <a:extLst>
              <a:ext uri="{FF2B5EF4-FFF2-40B4-BE49-F238E27FC236}">
                <a16:creationId xmlns:a16="http://schemas.microsoft.com/office/drawing/2014/main" id="{33429B18-53E9-5C77-849B-3F6ACE97A6EC}"/>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pic>
        <p:nvPicPr>
          <p:cNvPr id="7" name="Picture 3">
            <a:extLst>
              <a:ext uri="{FF2B5EF4-FFF2-40B4-BE49-F238E27FC236}">
                <a16:creationId xmlns:a16="http://schemas.microsoft.com/office/drawing/2014/main" id="{0ECB9499-E388-C685-4CDB-64AE0C1115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35767F1E-FE85-515A-7E99-A56E22E58A00}"/>
              </a:ext>
            </a:extLst>
          </p:cNvPr>
          <p:cNvSpPr>
            <a:spLocks noGrp="1"/>
          </p:cNvSpPr>
          <p:nvPr>
            <p:ph type="sldNum" sz="quarter" idx="12"/>
          </p:nvPr>
        </p:nvSpPr>
        <p:spPr>
          <a:noFill/>
        </p:spPr>
        <p:txBody>
          <a:bodyPr/>
          <a:lstStyle/>
          <a:p>
            <a:fld id="{8C89584D-E97D-47EB-8490-6F36AE365490}" type="slidenum">
              <a:rPr lang="en-IN" smtClean="0"/>
              <a:pPr/>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4"/>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u="sng" dirty="0">
                <a:latin typeface="Times New Roman" panose="02020603050405020304" pitchFamily="18" charset="0"/>
                <a:cs typeface="Times New Roman" panose="02020603050405020304" pitchFamily="18" charset="0"/>
              </a:rPr>
              <a:t>CONTENTS</a:t>
            </a:r>
            <a:endParaRPr lang="en-US" sz="2000" dirty="0"/>
          </a:p>
        </p:txBody>
      </p:sp>
      <p:sp>
        <p:nvSpPr>
          <p:cNvPr id="17" name="TextBox 16"/>
          <p:cNvSpPr txBox="1"/>
          <p:nvPr/>
        </p:nvSpPr>
        <p:spPr>
          <a:xfrm>
            <a:off x="997527" y="1543792"/>
            <a:ext cx="3978234" cy="3782061"/>
          </a:xfrm>
          <a:prstGeom prst="rect">
            <a:avLst/>
          </a:prstGeom>
          <a:noFill/>
        </p:spPr>
        <p:txBody>
          <a:bodyPr wrap="square" rtlCol="0">
            <a:spAutoFit/>
          </a:bodyPr>
          <a:lstStyle/>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Introduction</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Problem Statement</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Objectives</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Software and Hardware Requirements</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Methodology</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Flow Chart</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Work Carried out so far</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Result</a:t>
            </a:r>
          </a:p>
          <a:p>
            <a:pPr>
              <a:lnSpc>
                <a:spcPct val="150000"/>
              </a:lnSpc>
              <a:buFont typeface="Arial" pitchFamily="34" charset="0"/>
              <a:buChar char="•"/>
            </a:pPr>
            <a:r>
              <a:rPr lang="en-IN" dirty="0">
                <a:latin typeface="Times New Roman" panose="02020603050405020304" pitchFamily="18" charset="0"/>
                <a:cs typeface="Times New Roman" panose="02020603050405020304" pitchFamily="18" charset="0"/>
              </a:rPr>
              <a:t> References </a:t>
            </a:r>
          </a:p>
        </p:txBody>
      </p:sp>
      <p:pic>
        <p:nvPicPr>
          <p:cNvPr id="2" name="Picture 7">
            <a:extLst>
              <a:ext uri="{FF2B5EF4-FFF2-40B4-BE49-F238E27FC236}">
                <a16:creationId xmlns:a16="http://schemas.microsoft.com/office/drawing/2014/main" id="{140C6F1D-26EF-9C95-E9DE-FDE468ED15E1}"/>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pic>
        <p:nvPicPr>
          <p:cNvPr id="3" name="Picture 3">
            <a:extLst>
              <a:ext uri="{FF2B5EF4-FFF2-40B4-BE49-F238E27FC236}">
                <a16:creationId xmlns:a16="http://schemas.microsoft.com/office/drawing/2014/main" id="{3D1EF549-6A66-49D5-D32C-2D4E0D5CF2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59BDEED9-95DF-02B5-49A7-7F161F7DD12F}"/>
              </a:ext>
            </a:extLst>
          </p:cNvPr>
          <p:cNvSpPr>
            <a:spLocks noGrp="1"/>
          </p:cNvSpPr>
          <p:nvPr>
            <p:ph type="sldNum" sz="quarter" idx="12"/>
          </p:nvPr>
        </p:nvSpPr>
        <p:spPr/>
        <p:txBody>
          <a:bodyPr/>
          <a:lstStyle/>
          <a:p>
            <a:fld id="{8C89584D-E97D-47EB-8490-6F36AE365490}"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Rectangle 4"/>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p:cNvSpPr>
            <a:spLocks noChangeArrowheads="1"/>
          </p:cNvSpPr>
          <p:nvPr/>
        </p:nvSpPr>
        <p:spPr bwMode="auto">
          <a:xfrm>
            <a:off x="2080595" y="1948651"/>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INTRODUCTION</a:t>
            </a:r>
            <a:endParaRPr lang="en-US" sz="2000" b="1" u="sng" dirty="0">
              <a:latin typeface="Times New Roman" panose="02020603050405020304" pitchFamily="18" charset="0"/>
              <a:cs typeface="Times New Roman" panose="02020603050405020304" pitchFamily="18" charset="0"/>
            </a:endParaRPr>
          </a:p>
        </p:txBody>
      </p:sp>
      <p:sp>
        <p:nvSpPr>
          <p:cNvPr id="2" name="Rectangle 150">
            <a:extLst>
              <a:ext uri="{FF2B5EF4-FFF2-40B4-BE49-F238E27FC236}">
                <a16:creationId xmlns:a16="http://schemas.microsoft.com/office/drawing/2014/main" id="{B9847655-0635-D45B-5CD6-EF911C12466E}"/>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F5926D1B-6605-FEA4-4F24-8BA9471EDB78}"/>
              </a:ext>
            </a:extLst>
          </p:cNvPr>
          <p:cNvSpPr txBox="1"/>
          <p:nvPr/>
        </p:nvSpPr>
        <p:spPr>
          <a:xfrm>
            <a:off x="1030059" y="3090186"/>
            <a:ext cx="10405241" cy="830997"/>
          </a:xfrm>
          <a:prstGeom prst="rect">
            <a:avLst/>
          </a:prstGeom>
          <a:noFill/>
        </p:spPr>
        <p:txBody>
          <a:bodyPr wrap="square" rtlCol="0">
            <a:spAutoFit/>
          </a:bodyPr>
          <a:lstStyle/>
          <a:p>
            <a:pPr algn="just"/>
            <a:r>
              <a:rPr lang="en-IN" sz="1600" b="1" dirty="0">
                <a:latin typeface="Times New Roman" panose="02020603050405020304" pitchFamily="18" charset="0"/>
                <a:cs typeface="Times New Roman" panose="02020603050405020304" pitchFamily="18" charset="0"/>
              </a:rPr>
              <a:t>AI Powered Autonomous Coconut Harvesting System</a:t>
            </a:r>
            <a:r>
              <a:rPr lang="en-IN" sz="1600" dirty="0">
                <a:latin typeface="Times New Roman" panose="02020603050405020304" pitchFamily="18" charset="0"/>
                <a:cs typeface="Times New Roman" panose="02020603050405020304" pitchFamily="18" charset="0"/>
              </a:rPr>
              <a:t> is an AI-powered Digital Twin platform that transforms drone surveys into a </a:t>
            </a:r>
            <a:r>
              <a:rPr lang="en-IN" sz="1600" b="1" dirty="0">
                <a:latin typeface="Times New Roman" panose="02020603050405020304" pitchFamily="18" charset="0"/>
                <a:cs typeface="Times New Roman" panose="02020603050405020304" pitchFamily="18" charset="0"/>
              </a:rPr>
              <a:t>live virtual model of a coconut plantation</a:t>
            </a:r>
            <a:r>
              <a:rPr lang="en-IN" sz="1600" dirty="0">
                <a:latin typeface="Times New Roman" panose="02020603050405020304" pitchFamily="18" charset="0"/>
                <a:cs typeface="Times New Roman" panose="02020603050405020304" pitchFamily="18" charset="0"/>
              </a:rPr>
              <a:t>. It uses </a:t>
            </a:r>
            <a:r>
              <a:rPr lang="en-IN" sz="1600" b="1" dirty="0">
                <a:latin typeface="Times New Roman" panose="02020603050405020304" pitchFamily="18" charset="0"/>
                <a:cs typeface="Times New Roman" panose="02020603050405020304" pitchFamily="18" charset="0"/>
              </a:rPr>
              <a:t>YOLOv8-based detection</a:t>
            </a:r>
            <a:r>
              <a:rPr lang="en-IN" sz="1600" dirty="0">
                <a:latin typeface="Times New Roman" panose="02020603050405020304" pitchFamily="18" charset="0"/>
                <a:cs typeface="Times New Roman" panose="02020603050405020304" pitchFamily="18" charset="0"/>
              </a:rPr>
              <a:t> to identify trees and coconut ripeness, plans optimal harvesting routes, and simulates an autonomous harvesting robot in real time.</a:t>
            </a:r>
            <a:r>
              <a:rPr lang="en-US" sz="1600" dirty="0">
                <a:latin typeface="Times New Roman" panose="02020603050405020304" pitchFamily="18" charset="0"/>
                <a:cs typeface="Times New Roman" panose="02020603050405020304" pitchFamily="18" charset="0"/>
              </a:rPr>
              <a:t>.</a:t>
            </a:r>
          </a:p>
        </p:txBody>
      </p:sp>
      <p:pic>
        <p:nvPicPr>
          <p:cNvPr id="3" name="Picture 7">
            <a:extLst>
              <a:ext uri="{FF2B5EF4-FFF2-40B4-BE49-F238E27FC236}">
                <a16:creationId xmlns:a16="http://schemas.microsoft.com/office/drawing/2014/main" id="{C915E970-2B44-5F8F-2E0A-E83905D6B5D1}"/>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pic>
        <p:nvPicPr>
          <p:cNvPr id="5" name="Picture 3">
            <a:extLst>
              <a:ext uri="{FF2B5EF4-FFF2-40B4-BE49-F238E27FC236}">
                <a16:creationId xmlns:a16="http://schemas.microsoft.com/office/drawing/2014/main" id="{09DBF86E-DEAD-0C10-C9F7-7F7356006E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7757BF6A-A3B6-D9A7-B749-BAB167FBE888}"/>
              </a:ext>
            </a:extLst>
          </p:cNvPr>
          <p:cNvSpPr>
            <a:spLocks noGrp="1"/>
          </p:cNvSpPr>
          <p:nvPr>
            <p:ph type="sldNum" sz="quarter" idx="12"/>
          </p:nvPr>
        </p:nvSpPr>
        <p:spPr/>
        <p:txBody>
          <a:bodyPr/>
          <a:lstStyle/>
          <a:p>
            <a:fld id="{8C89584D-E97D-47EB-8490-6F36AE365490}" type="slidenum">
              <a:rPr lang="en-IN" smtClean="0"/>
              <a:pPr/>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F7FD-3729-1D11-E40A-092D15C3E0D4}"/>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BD846A55-54C3-794F-F8BC-5D62FFD58E71}"/>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D91AED91-361C-3847-29A8-14017403CF06}"/>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A1E17DC7-C322-A8B8-099D-48CC102EF38C}"/>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5B5B8B67-DC06-6221-5B5C-D620A6BF00F4}"/>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BCEFBF6D-B987-25FE-C962-34846ECF1AEB}"/>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3ED25E73-AFE2-03C3-BAD3-FF87E00B7662}"/>
              </a:ext>
            </a:extLst>
          </p:cNvPr>
          <p:cNvSpPr>
            <a:spLocks noChangeArrowheads="1"/>
          </p:cNvSpPr>
          <p:nvPr/>
        </p:nvSpPr>
        <p:spPr bwMode="auto">
          <a:xfrm>
            <a:off x="2080595" y="1299085"/>
            <a:ext cx="7773510" cy="707886"/>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Problem Statement</a:t>
            </a:r>
            <a:endParaRPr lang="en-IN" sz="2000" dirty="0">
              <a:latin typeface="Times New Roman" panose="02020603050405020304" pitchFamily="18" charset="0"/>
              <a:cs typeface="Times New Roman" panose="02020603050405020304" pitchFamily="18" charset="0"/>
            </a:endParaRPr>
          </a:p>
          <a:p>
            <a:pPr algn="ctr"/>
            <a:endParaRPr lang="en-US" sz="2000" b="1" u="sng"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4ACF128B-A153-054A-89B1-F6EAFE981E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BF833D52-42D2-5901-6BE5-0319D6FD6D43}"/>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E33BE36C-3978-2F67-4DD9-A31BB46E7B69}"/>
              </a:ext>
            </a:extLst>
          </p:cNvPr>
          <p:cNvSpPr txBox="1"/>
          <p:nvPr/>
        </p:nvSpPr>
        <p:spPr>
          <a:xfrm>
            <a:off x="899968" y="2334229"/>
            <a:ext cx="10405241" cy="1156086"/>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Coconut harvesting in India still depends on manual tree climbing, which is risky, </a:t>
            </a:r>
            <a:r>
              <a:rPr lang="en-US" sz="1600" dirty="0" err="1">
                <a:latin typeface="Times New Roman" panose="02020603050405020304" pitchFamily="18" charset="0"/>
                <a:cs typeface="Times New Roman" panose="02020603050405020304" pitchFamily="18" charset="0"/>
              </a:rPr>
              <a:t>labour-intensive</a:t>
            </a:r>
            <a:r>
              <a:rPr lang="en-US" sz="1600" dirty="0">
                <a:latin typeface="Times New Roman" panose="02020603050405020304" pitchFamily="18" charset="0"/>
                <a:cs typeface="Times New Roman" panose="02020603050405020304" pitchFamily="18" charset="0"/>
              </a:rPr>
              <a:t>, and costly due to the shortage of skilled workers. Farmers also face difficulties in identifying mature coconuts and managing harvesting efficiently on large plantations, leading to reduced productivity and crop loss. </a:t>
            </a:r>
            <a:endParaRPr lang="en-IN" sz="16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7D7925AF-092D-0D5C-3E1A-27BEAC68BC4C}"/>
              </a:ext>
            </a:extLst>
          </p:cNvPr>
          <p:cNvSpPr>
            <a:spLocks noGrp="1"/>
          </p:cNvSpPr>
          <p:nvPr>
            <p:ph type="sldNum" sz="quarter" idx="12"/>
          </p:nvPr>
        </p:nvSpPr>
        <p:spPr/>
        <p:txBody>
          <a:bodyPr/>
          <a:lstStyle/>
          <a:p>
            <a:fld id="{8C89584D-E97D-47EB-8490-6F36AE365490}" type="slidenum">
              <a:rPr lang="en-IN" smtClean="0"/>
              <a:pPr/>
              <a:t>4</a:t>
            </a:fld>
            <a:endParaRPr lang="en-IN"/>
          </a:p>
        </p:txBody>
      </p:sp>
    </p:spTree>
    <p:extLst>
      <p:ext uri="{BB962C8B-B14F-4D97-AF65-F5344CB8AC3E}">
        <p14:creationId xmlns:p14="http://schemas.microsoft.com/office/powerpoint/2010/main" val="3337341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1DAC-5BB2-EFA2-498B-458EDB498C03}"/>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46EB6CDE-E4BA-0C53-0FF2-D1D3680745D6}"/>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EAF7A686-B7BF-804D-46D2-10B12C116C33}"/>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2E7A1D19-33E3-E45C-63C5-D6661B41CB7F}"/>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30972C28-840B-B6A1-EB1D-53CE4F610FE7}"/>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8AD471C6-E32B-237A-E431-E4471EEFF47D}"/>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DF2D014A-2202-91EF-8EAB-304B529527A8}"/>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Objectives</a:t>
            </a:r>
            <a:endParaRPr lang="en-IN" sz="20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4B4CCBA7-91CD-24DA-F9AF-21DDB8510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A07E14CB-EA68-6146-2474-3CDB8236FA80}"/>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96703911-14E0-9EF2-C905-F13C450BFDB9}"/>
              </a:ext>
            </a:extLst>
          </p:cNvPr>
          <p:cNvSpPr txBox="1"/>
          <p:nvPr/>
        </p:nvSpPr>
        <p:spPr>
          <a:xfrm>
            <a:off x="899968" y="2334229"/>
            <a:ext cx="10405241" cy="2062103"/>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detect and map coconut trees from drone imagery using AI-based detection and GPS localisation.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identify coconut ripeness and maintain an up-to-date per-tree coconut inventory. </a:t>
            </a:r>
          </a:p>
          <a:p>
            <a:pPr marL="285750" lvl="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plan and manage harvesting missions through preference-based robot-executable routes and task queues.</a:t>
            </a:r>
          </a:p>
          <a:p>
            <a:pPr lvl="0"/>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provide a centralized dashboard for digital twin visualization, mission tracking, tree details, history, and analytics</a:t>
            </a:r>
            <a:r>
              <a:rPr lang="en-IN" sz="1600" dirty="0"/>
              <a:t>.</a:t>
            </a:r>
          </a:p>
          <a:p>
            <a:pPr algn="just"/>
            <a:endParaRPr lang="en-IN" sz="16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EE97D231-81BB-2A5F-02F7-4D5CA1EB6697}"/>
              </a:ext>
            </a:extLst>
          </p:cNvPr>
          <p:cNvSpPr>
            <a:spLocks noGrp="1"/>
          </p:cNvSpPr>
          <p:nvPr>
            <p:ph type="sldNum" sz="quarter" idx="12"/>
          </p:nvPr>
        </p:nvSpPr>
        <p:spPr/>
        <p:txBody>
          <a:bodyPr/>
          <a:lstStyle/>
          <a:p>
            <a:fld id="{8C89584D-E97D-47EB-8490-6F36AE365490}" type="slidenum">
              <a:rPr lang="en-IN" smtClean="0"/>
              <a:pPr/>
              <a:t>5</a:t>
            </a:fld>
            <a:endParaRPr lang="en-IN" dirty="0"/>
          </a:p>
        </p:txBody>
      </p:sp>
    </p:spTree>
    <p:extLst>
      <p:ext uri="{BB962C8B-B14F-4D97-AF65-F5344CB8AC3E}">
        <p14:creationId xmlns:p14="http://schemas.microsoft.com/office/powerpoint/2010/main" val="880588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F7E3-F922-E1B6-249C-C889F71D2601}"/>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6BC7ABF6-0227-1460-638D-1205D44FE435}"/>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F74DD9C5-3C14-70A3-3835-5202E73ACE2B}"/>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A4FD04BA-70A6-0A8A-912A-E48BE70B8B4C}"/>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6E237E56-A818-E6ED-7B40-1251FD7ADA07}"/>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2C9401FB-8E51-D9C3-E347-2120F19D9805}"/>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D5F20E38-E867-2BC6-0725-757976672A04}"/>
              </a:ext>
            </a:extLst>
          </p:cNvPr>
          <p:cNvSpPr>
            <a:spLocks noChangeArrowheads="1"/>
          </p:cNvSpPr>
          <p:nvPr/>
        </p:nvSpPr>
        <p:spPr bwMode="auto">
          <a:xfrm>
            <a:off x="2080595" y="1240736"/>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Methodology</a:t>
            </a:r>
            <a:endParaRPr lang="en-IN" sz="20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0F94F2EB-92BF-8256-79FA-74D579AED9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C1C249D5-428F-6793-C037-EFF15AEF9236}"/>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Rectangle 3">
            <a:extLst>
              <a:ext uri="{FF2B5EF4-FFF2-40B4-BE49-F238E27FC236}">
                <a16:creationId xmlns:a16="http://schemas.microsoft.com/office/drawing/2014/main" id="{4D0A2AB2-10FE-8536-7976-8016B4B8A8F7}"/>
              </a:ext>
            </a:extLst>
          </p:cNvPr>
          <p:cNvSpPr/>
          <p:nvPr/>
        </p:nvSpPr>
        <p:spPr>
          <a:xfrm>
            <a:off x="6877359" y="3383071"/>
            <a:ext cx="271398" cy="9185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72C8C9D9-ADF9-69E4-8279-C75A3CC0B4B3}"/>
              </a:ext>
            </a:extLst>
          </p:cNvPr>
          <p:cNvSpPr>
            <a:spLocks noGrp="1"/>
          </p:cNvSpPr>
          <p:nvPr>
            <p:ph type="sldNum" sz="quarter" idx="12"/>
          </p:nvPr>
        </p:nvSpPr>
        <p:spPr/>
        <p:txBody>
          <a:bodyPr/>
          <a:lstStyle/>
          <a:p>
            <a:fld id="{8C89584D-E97D-47EB-8490-6F36AE365490}" type="slidenum">
              <a:rPr lang="en-IN" smtClean="0"/>
              <a:pPr/>
              <a:t>6</a:t>
            </a:fld>
            <a:endParaRPr lang="en-IN"/>
          </a:p>
        </p:txBody>
      </p:sp>
      <p:pic>
        <p:nvPicPr>
          <p:cNvPr id="12" name="Picture 11">
            <a:extLst>
              <a:ext uri="{FF2B5EF4-FFF2-40B4-BE49-F238E27FC236}">
                <a16:creationId xmlns:a16="http://schemas.microsoft.com/office/drawing/2014/main" id="{F8E84285-ED73-0416-5D1C-7CD22D07A226}"/>
              </a:ext>
            </a:extLst>
          </p:cNvPr>
          <p:cNvPicPr>
            <a:picLocks noChangeAspect="1"/>
          </p:cNvPicPr>
          <p:nvPr/>
        </p:nvPicPr>
        <p:blipFill>
          <a:blip r:embed="rId5">
            <a:extLst>
              <a:ext uri="{28A0092B-C50C-407E-A947-70E740481C1C}">
                <a14:useLocalDpi xmlns:a14="http://schemas.microsoft.com/office/drawing/2010/main" val="0"/>
              </a:ext>
            </a:extLst>
          </a:blip>
          <a:srcRect l="-86" t="5196" r="86" b="9448"/>
          <a:stretch>
            <a:fillRect/>
          </a:stretch>
        </p:blipFill>
        <p:spPr>
          <a:xfrm>
            <a:off x="417217" y="1719126"/>
            <a:ext cx="11350034" cy="4844005"/>
          </a:xfrm>
          <a:prstGeom prst="rect">
            <a:avLst/>
          </a:prstGeom>
        </p:spPr>
      </p:pic>
    </p:spTree>
    <p:extLst>
      <p:ext uri="{BB962C8B-B14F-4D97-AF65-F5344CB8AC3E}">
        <p14:creationId xmlns:p14="http://schemas.microsoft.com/office/powerpoint/2010/main" val="2240848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74B22-FD79-3369-65E6-A3DB4192DFE4}"/>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6057F5E9-B4DA-B822-F0CA-2DDAA9683229}"/>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ABD57ABB-EAF6-7263-9DC2-73871ABF6FC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33933D8C-9BA6-8902-92E3-D6075409DDB7}"/>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FAE13AB2-239B-08FD-A732-E7284144CC65}"/>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5EAD8858-568F-E95E-5271-5586B2981AE7}"/>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FAFCA1E7-A751-7FFC-FB49-AD8100A6C216}"/>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Software and Hardware Requirements</a:t>
            </a:r>
            <a:endParaRPr lang="en-IN" sz="20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0BADABB8-4D24-16E5-9391-C6EAECCBB4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25F1CADE-736D-05A6-6D06-78BCDE3A3101}"/>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9C421629-C087-7959-F11C-9AB8884FABBF}"/>
              </a:ext>
            </a:extLst>
          </p:cNvPr>
          <p:cNvSpPr txBox="1"/>
          <p:nvPr/>
        </p:nvSpPr>
        <p:spPr>
          <a:xfrm>
            <a:off x="899968" y="1889049"/>
            <a:ext cx="10405241" cy="452431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Software Requirements</a:t>
            </a:r>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Backend</a:t>
            </a:r>
            <a:r>
              <a:rPr lang="en-IN" sz="1600" dirty="0">
                <a:latin typeface="Times New Roman" panose="02020603050405020304" pitchFamily="18" charset="0"/>
                <a:cs typeface="Times New Roman" panose="02020603050405020304" pitchFamily="18" charset="0"/>
              </a:rPr>
              <a:t> – Python, FastAPI, Uvicorn, SQLAlchemy, PostgreSQL (Neon), and python-</a:t>
            </a:r>
            <a:r>
              <a:rPr lang="en-IN" sz="1600" dirty="0" err="1">
                <a:latin typeface="Times New Roman" panose="02020603050405020304" pitchFamily="18" charset="0"/>
                <a:cs typeface="Times New Roman" panose="02020603050405020304" pitchFamily="18" charset="0"/>
              </a:rPr>
              <a:t>dotenv</a:t>
            </a:r>
            <a:r>
              <a:rPr lang="en-IN" sz="1600" dirty="0">
                <a:latin typeface="Times New Roman" panose="02020603050405020304" pitchFamily="18" charset="0"/>
                <a:cs typeface="Times New Roman" panose="02020603050405020304" pitchFamily="18" charset="0"/>
              </a:rPr>
              <a:t> for configuration management.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AI / Computer Vision</a:t>
            </a:r>
            <a:r>
              <a:rPr lang="en-IN" sz="1600" dirty="0">
                <a:latin typeface="Times New Roman" panose="02020603050405020304" pitchFamily="18" charset="0"/>
                <a:cs typeface="Times New Roman" panose="02020603050405020304" pitchFamily="18" charset="0"/>
              </a:rPr>
              <a:t> – Ultralytics YOLOv8 for coconut tree and ripeness detection, with local YOLO model weights.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Frontend</a:t>
            </a:r>
            <a:r>
              <a:rPr lang="en-IN" sz="1600" dirty="0">
                <a:latin typeface="Times New Roman" panose="02020603050405020304" pitchFamily="18" charset="0"/>
                <a:cs typeface="Times New Roman" panose="02020603050405020304" pitchFamily="18" charset="0"/>
              </a:rPr>
              <a:t> – Next.js 16, React 19, TypeScript, and Tailwind CSS for the Digital Twin, dashboard, and robot visualization.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Simulation &amp; Communication</a:t>
            </a:r>
            <a:r>
              <a:rPr lang="en-IN" sz="1600" dirty="0">
                <a:latin typeface="Times New Roman" panose="02020603050405020304" pitchFamily="18" charset="0"/>
                <a:cs typeface="Times New Roman" panose="02020603050405020304" pitchFamily="18" charset="0"/>
              </a:rPr>
              <a:t> – Python-based time-driven robot simulation with Simulation Engine, Simulation Clock, Scheduler, and WebSocket-based telemetry.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Development Tools</a:t>
            </a:r>
            <a:r>
              <a:rPr lang="en-IN" sz="1600" dirty="0">
                <a:latin typeface="Times New Roman" panose="02020603050405020304" pitchFamily="18" charset="0"/>
                <a:cs typeface="Times New Roman" panose="02020603050405020304" pitchFamily="18" charset="0"/>
              </a:rPr>
              <a:t> – Git/GitHub for version control, VS Code for development, and </a:t>
            </a:r>
            <a:r>
              <a:rPr lang="en-IN" sz="1600" dirty="0" err="1">
                <a:latin typeface="Times New Roman" panose="02020603050405020304" pitchFamily="18" charset="0"/>
                <a:cs typeface="Times New Roman" panose="02020603050405020304" pitchFamily="18" charset="0"/>
              </a:rPr>
              <a:t>npm</a:t>
            </a:r>
            <a:r>
              <a:rPr lang="en-IN" sz="1600" dirty="0">
                <a:latin typeface="Times New Roman" panose="02020603050405020304" pitchFamily="18" charset="0"/>
                <a:cs typeface="Times New Roman" panose="02020603050405020304" pitchFamily="18" charset="0"/>
              </a:rPr>
              <a:t> for frontend package management.</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Hardware Requirements</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Development Computer</a:t>
            </a:r>
            <a:r>
              <a:rPr lang="en-IN" sz="1600" dirty="0">
                <a:latin typeface="Times New Roman" panose="02020603050405020304" pitchFamily="18" charset="0"/>
                <a:cs typeface="Times New Roman" panose="02020603050405020304" pitchFamily="18" charset="0"/>
              </a:rPr>
              <a:t> – Laptop/Desktop capable of running the Next.js frontend, FastAPI backend, PostgreSQL connectivity, and YOLOv8 inference.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Camera / Image Source</a:t>
            </a:r>
            <a:r>
              <a:rPr lang="en-IN" sz="1600" dirty="0">
                <a:latin typeface="Times New Roman" panose="02020603050405020304" pitchFamily="18" charset="0"/>
                <a:cs typeface="Times New Roman" panose="02020603050405020304" pitchFamily="18" charset="0"/>
              </a:rPr>
              <a:t> – Aerial and close-up coconut plantation images for tree detection and ripeness inspection.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GPU (Recommended)</a:t>
            </a:r>
            <a:r>
              <a:rPr lang="en-IN" sz="1600" dirty="0">
                <a:latin typeface="Times New Roman" panose="02020603050405020304" pitchFamily="18" charset="0"/>
                <a:cs typeface="Times New Roman" panose="02020603050405020304" pitchFamily="18" charset="0"/>
              </a:rPr>
              <a:t> – Dedicated GPU recommended for faster YOLOv8 model inference and image processing.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Internet Connection</a:t>
            </a:r>
            <a:r>
              <a:rPr lang="en-IN" sz="1600" dirty="0">
                <a:latin typeface="Times New Roman" panose="02020603050405020304" pitchFamily="18" charset="0"/>
                <a:cs typeface="Times New Roman" panose="02020603050405020304" pitchFamily="18" charset="0"/>
              </a:rPr>
              <a:t> – Required for accessing the PostgreSQL database hosted on Neon and other development/deployment services.</a:t>
            </a:r>
          </a:p>
          <a:p>
            <a:endParaRPr lang="en-US" sz="16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35795E63-D222-7DA7-BA36-08579F35B7D7}"/>
              </a:ext>
            </a:extLst>
          </p:cNvPr>
          <p:cNvSpPr>
            <a:spLocks noGrp="1"/>
          </p:cNvSpPr>
          <p:nvPr>
            <p:ph type="sldNum" sz="quarter" idx="12"/>
          </p:nvPr>
        </p:nvSpPr>
        <p:spPr/>
        <p:txBody>
          <a:bodyPr/>
          <a:lstStyle/>
          <a:p>
            <a:fld id="{8C89584D-E97D-47EB-8490-6F36AE365490}" type="slidenum">
              <a:rPr lang="en-IN" smtClean="0"/>
              <a:pPr/>
              <a:t>7</a:t>
            </a:fld>
            <a:endParaRPr lang="en-IN"/>
          </a:p>
        </p:txBody>
      </p:sp>
    </p:spTree>
    <p:extLst>
      <p:ext uri="{BB962C8B-B14F-4D97-AF65-F5344CB8AC3E}">
        <p14:creationId xmlns:p14="http://schemas.microsoft.com/office/powerpoint/2010/main" val="1154174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B75B8-A27C-6259-C4D7-571571753017}"/>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84D72BE6-C300-196B-2D9B-4AD6537ABECA}"/>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B7C38DF3-9CDC-04EF-4CC5-278A17002A2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67B301AB-F8A5-F886-053A-40909076A2C1}"/>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2CF260F8-CBBC-9A16-47DA-942B9C035C3B}"/>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81C5C380-5A5F-6C7B-FE36-CC7FE6F0C5AA}"/>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3BBEE25C-2A9D-7CE6-B5DC-0D61909858E4}"/>
              </a:ext>
            </a:extLst>
          </p:cNvPr>
          <p:cNvSpPr>
            <a:spLocks noChangeArrowheads="1"/>
          </p:cNvSpPr>
          <p:nvPr/>
        </p:nvSpPr>
        <p:spPr bwMode="auto">
          <a:xfrm>
            <a:off x="195588" y="1207227"/>
            <a:ext cx="7773510" cy="400110"/>
          </a:xfrm>
          <a:prstGeom prst="rect">
            <a:avLst/>
          </a:prstGeom>
          <a:noFill/>
          <a:ln>
            <a:noFill/>
          </a:ln>
        </p:spPr>
        <p:txBody>
          <a:bodyPr wrap="square">
            <a:spAutoFit/>
          </a:bodyPr>
          <a:lstStyle/>
          <a:p>
            <a:r>
              <a:rPr lang="en-IN" sz="2000" b="1" u="sng" dirty="0">
                <a:latin typeface="Times New Roman" panose="02020603050405020304" pitchFamily="18" charset="0"/>
                <a:cs typeface="Times New Roman" panose="02020603050405020304" pitchFamily="18" charset="0"/>
              </a:rPr>
              <a:t>Flow Chart</a:t>
            </a:r>
            <a:endParaRPr lang="en-IN" sz="20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7598AD35-5C80-784E-3AEF-29687B5CCA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7A4E04D7-CC63-0D1A-AFFF-326241583CDD}"/>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6" name="Slide Number Placeholder 5">
            <a:extLst>
              <a:ext uri="{FF2B5EF4-FFF2-40B4-BE49-F238E27FC236}">
                <a16:creationId xmlns:a16="http://schemas.microsoft.com/office/drawing/2014/main" id="{766C3805-1313-1240-7190-A11D9B2FDB88}"/>
              </a:ext>
            </a:extLst>
          </p:cNvPr>
          <p:cNvSpPr>
            <a:spLocks noGrp="1"/>
          </p:cNvSpPr>
          <p:nvPr>
            <p:ph type="sldNum" sz="quarter" idx="12"/>
          </p:nvPr>
        </p:nvSpPr>
        <p:spPr/>
        <p:txBody>
          <a:bodyPr/>
          <a:lstStyle/>
          <a:p>
            <a:fld id="{8C89584D-E97D-47EB-8490-6F36AE365490}" type="slidenum">
              <a:rPr lang="en-IN" smtClean="0"/>
              <a:pPr/>
              <a:t>8</a:t>
            </a:fld>
            <a:endParaRPr lang="en-IN"/>
          </a:p>
        </p:txBody>
      </p:sp>
      <p:pic>
        <p:nvPicPr>
          <p:cNvPr id="7" name="Picture 6">
            <a:extLst>
              <a:ext uri="{FF2B5EF4-FFF2-40B4-BE49-F238E27FC236}">
                <a16:creationId xmlns:a16="http://schemas.microsoft.com/office/drawing/2014/main" id="{64B808CE-6C28-0069-8093-7A4E3E10AEB9}"/>
              </a:ext>
            </a:extLst>
          </p:cNvPr>
          <p:cNvPicPr>
            <a:picLocks noChangeAspect="1"/>
          </p:cNvPicPr>
          <p:nvPr/>
        </p:nvPicPr>
        <p:blipFill>
          <a:blip r:embed="rId5" cstate="print">
            <a:extLst>
              <a:ext uri="{28A0092B-C50C-407E-A947-70E740481C1C}">
                <a14:useLocalDpi xmlns:a14="http://schemas.microsoft.com/office/drawing/2010/main" val="0"/>
              </a:ext>
            </a:extLst>
          </a:blip>
          <a:srcRect t="691" b="2055"/>
          <a:stretch>
            <a:fillRect/>
          </a:stretch>
        </p:blipFill>
        <p:spPr>
          <a:xfrm>
            <a:off x="4257040" y="1245313"/>
            <a:ext cx="3840480" cy="5602527"/>
          </a:xfrm>
          <a:prstGeom prst="rect">
            <a:avLst/>
          </a:prstGeom>
        </p:spPr>
      </p:pic>
    </p:spTree>
    <p:extLst>
      <p:ext uri="{BB962C8B-B14F-4D97-AF65-F5344CB8AC3E}">
        <p14:creationId xmlns:p14="http://schemas.microsoft.com/office/powerpoint/2010/main" val="603515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53D9-121E-7DDF-6494-895B32642066}"/>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97CB0E71-C5EF-6296-1FEC-05D8FED48386}"/>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7EB7F58D-5DC9-8DE8-8D9C-2BC5AB5CA9FB}"/>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CC605B7A-C1D6-1561-8186-37E9351B2B86}"/>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DD05BE82-169C-59DC-6A36-C6F955C47447}"/>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07E76940-9C20-8423-B3E7-755B6DEA50DC}"/>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pic>
        <p:nvPicPr>
          <p:cNvPr id="14" name="Picture 3">
            <a:extLst>
              <a:ext uri="{FF2B5EF4-FFF2-40B4-BE49-F238E27FC236}">
                <a16:creationId xmlns:a16="http://schemas.microsoft.com/office/drawing/2014/main" id="{98FAB5C5-D792-2490-20A6-48562C6AB3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494BEDA8-6F65-281E-87E0-C2A21EC2FA7F}"/>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6" name="Slide Number Placeholder 5">
            <a:extLst>
              <a:ext uri="{FF2B5EF4-FFF2-40B4-BE49-F238E27FC236}">
                <a16:creationId xmlns:a16="http://schemas.microsoft.com/office/drawing/2014/main" id="{CA3A8143-551F-6291-B3C9-645D2702A985}"/>
              </a:ext>
            </a:extLst>
          </p:cNvPr>
          <p:cNvSpPr>
            <a:spLocks noGrp="1"/>
          </p:cNvSpPr>
          <p:nvPr>
            <p:ph type="sldNum" sz="quarter" idx="12"/>
          </p:nvPr>
        </p:nvSpPr>
        <p:spPr/>
        <p:txBody>
          <a:bodyPr/>
          <a:lstStyle/>
          <a:p>
            <a:fld id="{8C89584D-E97D-47EB-8490-6F36AE365490}" type="slidenum">
              <a:rPr lang="en-IN" smtClean="0"/>
              <a:pPr/>
              <a:t>9</a:t>
            </a:fld>
            <a:endParaRPr lang="en-IN"/>
          </a:p>
        </p:txBody>
      </p:sp>
      <p:pic>
        <p:nvPicPr>
          <p:cNvPr id="9" name="Picture 8">
            <a:extLst>
              <a:ext uri="{FF2B5EF4-FFF2-40B4-BE49-F238E27FC236}">
                <a16:creationId xmlns:a16="http://schemas.microsoft.com/office/drawing/2014/main" id="{7E446D9C-54B2-CD8E-76F2-847FDF24A5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897" y="1197606"/>
            <a:ext cx="11165805" cy="5660393"/>
          </a:xfrm>
          <a:prstGeom prst="rect">
            <a:avLst/>
          </a:prstGeom>
        </p:spPr>
      </p:pic>
    </p:spTree>
    <p:extLst>
      <p:ext uri="{BB962C8B-B14F-4D97-AF65-F5344CB8AC3E}">
        <p14:creationId xmlns:p14="http://schemas.microsoft.com/office/powerpoint/2010/main" val="2553552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B79CD-DC43-0625-4957-F98D3D11BFE8}"/>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3B9F93A0-DC4F-D5D9-6284-480688D03335}"/>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ED70FE0D-6F83-B0F2-E1D1-E7687D88DA5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4BF94CBE-6FC3-B78F-68D4-B33FE156B97B}"/>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55534966-332E-4C85-19C3-FCB69A971E10}"/>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04E276CB-829A-3AEE-DD7C-41CA36C552BF}"/>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31B0AD25-7CBD-FE52-FD3E-638042370DD5}"/>
              </a:ext>
            </a:extLst>
          </p:cNvPr>
          <p:cNvSpPr>
            <a:spLocks noChangeArrowheads="1"/>
          </p:cNvSpPr>
          <p:nvPr/>
        </p:nvSpPr>
        <p:spPr bwMode="auto">
          <a:xfrm>
            <a:off x="2080595" y="1314776"/>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Result</a:t>
            </a:r>
            <a:endParaRPr lang="en-IN" sz="20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A7AC63C4-3FBD-5B46-CFBF-31B008EA4A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C637DF89-255D-F0E8-C709-ABEF0AFFFA1D}"/>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6" name="Slide Number Placeholder 5">
            <a:extLst>
              <a:ext uri="{FF2B5EF4-FFF2-40B4-BE49-F238E27FC236}">
                <a16:creationId xmlns:a16="http://schemas.microsoft.com/office/drawing/2014/main" id="{B40BF8CA-326C-FEF5-7B8B-D06579EEFE30}"/>
              </a:ext>
            </a:extLst>
          </p:cNvPr>
          <p:cNvSpPr>
            <a:spLocks noGrp="1"/>
          </p:cNvSpPr>
          <p:nvPr>
            <p:ph type="sldNum" sz="quarter" idx="12"/>
          </p:nvPr>
        </p:nvSpPr>
        <p:spPr/>
        <p:txBody>
          <a:bodyPr/>
          <a:lstStyle/>
          <a:p>
            <a:fld id="{8C89584D-E97D-47EB-8490-6F36AE365490}" type="slidenum">
              <a:rPr lang="en-IN" smtClean="0"/>
              <a:pPr/>
              <a:t>10</a:t>
            </a:fld>
            <a:endParaRPr lang="en-IN"/>
          </a:p>
        </p:txBody>
      </p:sp>
      <p:pic>
        <p:nvPicPr>
          <p:cNvPr id="4" name="Picture 3">
            <a:extLst>
              <a:ext uri="{FF2B5EF4-FFF2-40B4-BE49-F238E27FC236}">
                <a16:creationId xmlns:a16="http://schemas.microsoft.com/office/drawing/2014/main" id="{1C3ED306-5BEA-E6C1-0433-36BBA158BD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9729" y="1992086"/>
            <a:ext cx="9774071" cy="4729389"/>
          </a:xfrm>
          <a:prstGeom prst="rect">
            <a:avLst/>
          </a:prstGeom>
        </p:spPr>
      </p:pic>
      <p:pic>
        <p:nvPicPr>
          <p:cNvPr id="7" name="Picture 6">
            <a:extLst>
              <a:ext uri="{FF2B5EF4-FFF2-40B4-BE49-F238E27FC236}">
                <a16:creationId xmlns:a16="http://schemas.microsoft.com/office/drawing/2014/main" id="{D32FBCF6-115B-B321-51D0-0A3BC70916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47053" y="5629008"/>
            <a:ext cx="7940351" cy="454404"/>
          </a:xfrm>
          <a:prstGeom prst="rect">
            <a:avLst/>
          </a:prstGeom>
        </p:spPr>
      </p:pic>
    </p:spTree>
    <p:extLst>
      <p:ext uri="{BB962C8B-B14F-4D97-AF65-F5344CB8AC3E}">
        <p14:creationId xmlns:p14="http://schemas.microsoft.com/office/powerpoint/2010/main" val="3485656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40A1-573C-50D3-6624-3EEB03605506}"/>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7C64E6AA-9A21-4C85-88E9-97CA7B32B612}"/>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91EBE67F-BA30-EAF4-E955-292F946362B2}"/>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8F36D879-18F4-4831-AC4A-16D78CC7F819}"/>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51B44E0A-8E2A-07B4-65E2-B7EE29261BD6}"/>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20D2A535-33FD-AEF2-2772-F1990DB93A8C}"/>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3D08EA35-E888-F507-D276-1B968AFD9738}"/>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1CB7B2FB-954B-D5FF-704F-C6A01CF122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1DD87591-A0BC-00A8-58CF-AB018A92A5A3}"/>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BC9A44DB-A1B8-34F5-AE92-9D1E16AB9475}"/>
              </a:ext>
            </a:extLst>
          </p:cNvPr>
          <p:cNvSpPr txBox="1"/>
          <p:nvPr/>
        </p:nvSpPr>
        <p:spPr>
          <a:xfrm>
            <a:off x="889613" y="1950938"/>
            <a:ext cx="10405241" cy="4770537"/>
          </a:xfrm>
          <a:prstGeom prst="rect">
            <a:avLst/>
          </a:prstGeom>
          <a:noFill/>
        </p:spPr>
        <p:txBody>
          <a:bodyPr wrap="square" rtlCol="0">
            <a:spAutoFit/>
          </a:bodyPr>
          <a:lstStyle/>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Wibowo, S. et al. (2016). </a:t>
            </a:r>
            <a:r>
              <a:rPr lang="en-US" sz="1600" i="1" dirty="0">
                <a:latin typeface="Times New Roman" panose="02020603050405020304" pitchFamily="18" charset="0"/>
                <a:cs typeface="Times New Roman" panose="02020603050405020304" pitchFamily="18" charset="0"/>
              </a:rPr>
              <a:t>Autonomous Coconut Harvesting Robot.</a:t>
            </a:r>
            <a:r>
              <a:rPr lang="en-US" sz="1600" dirty="0">
                <a:latin typeface="Times New Roman" panose="02020603050405020304" pitchFamily="18" charset="0"/>
                <a:cs typeface="Times New Roman" panose="02020603050405020304" pitchFamily="18" charset="0"/>
              </a:rPr>
              <a:t> — End-to-end robotic system with climbing and fastening mechanism for coconut plantations.  https://www.scribd.com/document/910220402/wibowo2016</a:t>
            </a: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Rathod, A. et al. (2016). </a:t>
            </a:r>
            <a:r>
              <a:rPr lang="en-US" sz="1600" i="1" dirty="0">
                <a:latin typeface="Times New Roman" panose="02020603050405020304" pitchFamily="18" charset="0"/>
                <a:cs typeface="Times New Roman" panose="02020603050405020304" pitchFamily="18" charset="0"/>
              </a:rPr>
              <a:t>Autonomous Control and Implementation of Coconut Tree Climbing and Harvesting Robot.</a:t>
            </a:r>
            <a:r>
              <a:rPr lang="en-US" sz="1600" dirty="0">
                <a:latin typeface="Times New Roman" panose="02020603050405020304" pitchFamily="18" charset="0"/>
                <a:cs typeface="Times New Roman" panose="02020603050405020304" pitchFamily="18" charset="0"/>
              </a:rPr>
              <a:t> Procedia Computer Science, </a:t>
            </a:r>
            <a:r>
              <a:rPr lang="en-US" sz="1600" dirty="0" err="1">
                <a:latin typeface="Times New Roman" panose="02020603050405020304" pitchFamily="18" charset="0"/>
                <a:cs typeface="Times New Roman" panose="02020603050405020304" pitchFamily="18" charset="0"/>
              </a:rPr>
              <a:t>Elsevier.</a:t>
            </a:r>
            <a:r>
              <a:rPr lang="en-US" sz="1600" dirty="0" err="1">
                <a:latin typeface="Times New Roman" panose="02020603050405020304" pitchFamily="18" charset="0"/>
                <a:cs typeface="Times New Roman" panose="02020603050405020304" pitchFamily="18" charset="0"/>
                <a:hlinkClick r:id="rId5"/>
              </a:rPr>
              <a:t>sciencedirect</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Amrita University (2015). </a:t>
            </a:r>
            <a:r>
              <a:rPr lang="en-US" sz="1600" i="1" dirty="0">
                <a:latin typeface="Times New Roman" panose="02020603050405020304" pitchFamily="18" charset="0"/>
                <a:cs typeface="Times New Roman" panose="02020603050405020304" pitchFamily="18" charset="0"/>
              </a:rPr>
              <a:t>Prototype of a Coconut Harvesting Robot with Visual Feedback.</a:t>
            </a:r>
            <a:r>
              <a:rPr lang="en-US" sz="1600" dirty="0">
                <a:latin typeface="Times New Roman" panose="02020603050405020304" pitchFamily="18" charset="0"/>
                <a:cs typeface="Times New Roman" panose="02020603050405020304" pitchFamily="18" charset="0"/>
              </a:rPr>
              <a:t> Advances in Intelligent Systems and Computing, Springer </a:t>
            </a:r>
            <a:r>
              <a:rPr lang="en-US" sz="1600" dirty="0" err="1">
                <a:latin typeface="Times New Roman" panose="02020603050405020304" pitchFamily="18" charset="0"/>
                <a:cs typeface="Times New Roman" panose="02020603050405020304" pitchFamily="18" charset="0"/>
              </a:rPr>
              <a:t>India.</a:t>
            </a:r>
            <a:r>
              <a:rPr lang="en-US" sz="1600" dirty="0" err="1">
                <a:latin typeface="Times New Roman" panose="02020603050405020304" pitchFamily="18" charset="0"/>
                <a:cs typeface="Times New Roman" panose="02020603050405020304" pitchFamily="18" charset="0"/>
                <a:hlinkClick r:id="rId6"/>
              </a:rPr>
              <a:t>amrita</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IOSR Journal of Engineering (2025). </a:t>
            </a:r>
            <a:r>
              <a:rPr lang="en-US" sz="1600" i="1" dirty="0">
                <a:latin typeface="Times New Roman" panose="02020603050405020304" pitchFamily="18" charset="0"/>
                <a:cs typeface="Times New Roman" panose="02020603050405020304" pitchFamily="18" charset="0"/>
              </a:rPr>
              <a:t>Coconut Harvest Mechanization Robot (CHMR) — Autonomous Device for Optimizing Coconut Harvesting.</a:t>
            </a:r>
            <a:r>
              <a:rPr lang="en-US" sz="1600" dirty="0">
                <a:latin typeface="Times New Roman" panose="02020603050405020304" pitchFamily="18" charset="0"/>
                <a:cs typeface="Times New Roman" panose="02020603050405020304" pitchFamily="18" charset="0"/>
              </a:rPr>
              <a:t> Vol. 15, Issue 1.</a:t>
            </a:r>
            <a:r>
              <a:rPr lang="en-US" sz="1600" dirty="0">
                <a:latin typeface="Times New Roman" panose="02020603050405020304" pitchFamily="18" charset="0"/>
                <a:cs typeface="Times New Roman" panose="02020603050405020304" pitchFamily="18" charset="0"/>
                <a:hlinkClick r:id="rId7"/>
              </a:rPr>
              <a:t>iosrjen</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Journal of Engineering and Applied Innovation (2023). </a:t>
            </a:r>
            <a:r>
              <a:rPr lang="en-US" sz="1600" i="1" dirty="0">
                <a:latin typeface="Times New Roman" panose="02020603050405020304" pitchFamily="18" charset="0"/>
                <a:cs typeface="Times New Roman" panose="02020603050405020304" pitchFamily="18" charset="0"/>
              </a:rPr>
              <a:t>Status and Scope of Automated Coconut Harvester in India.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JEAI.</a:t>
            </a:r>
            <a:r>
              <a:rPr lang="en-US" sz="1600" dirty="0" err="1">
                <a:latin typeface="Times New Roman" panose="02020603050405020304" pitchFamily="18" charset="0"/>
                <a:cs typeface="Times New Roman" panose="02020603050405020304" pitchFamily="18" charset="0"/>
                <a:hlinkClick r:id="rId8"/>
              </a:rPr>
              <a:t>journaljeai</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JOUAV (2023). </a:t>
            </a:r>
            <a:r>
              <a:rPr lang="en-US" sz="1600" i="1" dirty="0">
                <a:latin typeface="Times New Roman" panose="02020603050405020304" pitchFamily="18" charset="0"/>
                <a:cs typeface="Times New Roman" panose="02020603050405020304" pitchFamily="18" charset="0"/>
              </a:rPr>
              <a:t>Agriculture Drones — Farming Drone for Crop Monitoring and Precision Farming.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jouav.com</a:t>
            </a:r>
            <a:r>
              <a:rPr lang="en-US" sz="1600" dirty="0">
                <a:latin typeface="Times New Roman" panose="02020603050405020304" pitchFamily="18" charset="0"/>
                <a:cs typeface="Times New Roman" panose="02020603050405020304" pitchFamily="18" charset="0"/>
              </a:rPr>
              <a:t>, October 2023.</a:t>
            </a:r>
            <a:r>
              <a:rPr lang="en-US" sz="1600" dirty="0">
                <a:latin typeface="Times New Roman" panose="02020603050405020304" pitchFamily="18" charset="0"/>
                <a:cs typeface="Times New Roman" panose="02020603050405020304" pitchFamily="18" charset="0"/>
                <a:hlinkClick r:id="rId9"/>
              </a:rPr>
              <a:t>jouav</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08B752A-5243-D20D-4A86-5F64C697CE84}"/>
              </a:ext>
            </a:extLst>
          </p:cNvPr>
          <p:cNvSpPr>
            <a:spLocks noGrp="1"/>
          </p:cNvSpPr>
          <p:nvPr>
            <p:ph type="sldNum" sz="quarter" idx="12"/>
          </p:nvPr>
        </p:nvSpPr>
        <p:spPr/>
        <p:txBody>
          <a:bodyPr/>
          <a:lstStyle/>
          <a:p>
            <a:fld id="{8C89584D-E97D-47EB-8490-6F36AE365490}" type="slidenum">
              <a:rPr lang="en-IN" smtClean="0"/>
              <a:pPr/>
              <a:t>11</a:t>
            </a:fld>
            <a:endParaRPr lang="en-IN"/>
          </a:p>
        </p:txBody>
      </p:sp>
    </p:spTree>
    <p:extLst>
      <p:ext uri="{BB962C8B-B14F-4D97-AF65-F5344CB8AC3E}">
        <p14:creationId xmlns:p14="http://schemas.microsoft.com/office/powerpoint/2010/main" val="3931404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42D5-92CB-30E4-FEE1-03F2E280BACD}"/>
            </a:ext>
          </a:extLst>
        </p:cNvPr>
        <p:cNvGrpSpPr/>
        <p:nvPr/>
      </p:nvGrpSpPr>
      <p:grpSpPr>
        <a:xfrm>
          <a:off x="0" y="0"/>
          <a:ext cx="0" cy="0"/>
          <a:chOff x="0" y="0"/>
          <a:chExt cx="0" cy="0"/>
        </a:xfrm>
      </p:grpSpPr>
      <p:pic>
        <p:nvPicPr>
          <p:cNvPr id="2097152" name="Picture 7">
            <a:extLst>
              <a:ext uri="{FF2B5EF4-FFF2-40B4-BE49-F238E27FC236}">
                <a16:creationId xmlns:a16="http://schemas.microsoft.com/office/drawing/2014/main" id="{9D1DE574-FDBA-8FE8-5D91-B5E2AA93DBD6}"/>
              </a:ext>
            </a:extLst>
          </p:cNvPr>
          <p:cNvPicPr>
            <a:picLocks noChangeAspect="1" noChangeArrowheads="1"/>
          </p:cNvPicPr>
          <p:nvPr/>
        </p:nvPicPr>
        <p:blipFill>
          <a:blip r:embed="rId3"/>
          <a:srcRect/>
          <a:stretch>
            <a:fillRect/>
          </a:stretch>
        </p:blipFill>
        <p:spPr bwMode="auto">
          <a:xfrm>
            <a:off x="6588" y="-1"/>
            <a:ext cx="1249005" cy="962585"/>
          </a:xfrm>
          <a:prstGeom prst="rect">
            <a:avLst/>
          </a:prstGeom>
          <a:noFill/>
          <a:ln>
            <a:noFill/>
          </a:ln>
        </p:spPr>
      </p:pic>
      <p:sp>
        <p:nvSpPr>
          <p:cNvPr id="1048586" name="Rectangle 4">
            <a:extLst>
              <a:ext uri="{FF2B5EF4-FFF2-40B4-BE49-F238E27FC236}">
                <a16:creationId xmlns:a16="http://schemas.microsoft.com/office/drawing/2014/main" id="{14D74F5A-8977-8EA2-051B-C9A1590F4A59}"/>
              </a:ext>
            </a:extLst>
          </p:cNvPr>
          <p:cNvSpPr/>
          <p:nvPr/>
        </p:nvSpPr>
        <p:spPr>
          <a:xfrm>
            <a:off x="6589" y="994045"/>
            <a:ext cx="12192000" cy="4571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8587" name="Rectangle 5">
            <a:extLst>
              <a:ext uri="{FF2B5EF4-FFF2-40B4-BE49-F238E27FC236}">
                <a16:creationId xmlns:a16="http://schemas.microsoft.com/office/drawing/2014/main" id="{6DAA441A-3D1F-17F6-9B62-89907BCF78EF}"/>
              </a:ext>
            </a:extLst>
          </p:cNvPr>
          <p:cNvSpPr/>
          <p:nvPr/>
        </p:nvSpPr>
        <p:spPr>
          <a:xfrm>
            <a:off x="-3766" y="1088010"/>
            <a:ext cx="12192000" cy="119217"/>
          </a:xfrm>
          <a:prstGeom prst="rect">
            <a:avLst/>
          </a:prstGeom>
          <a:solidFill>
            <a:srgbClr val="D60093"/>
          </a:solidFill>
        </p:spPr>
        <p:txBody>
          <a:bodyPr wrap="square" lIns="0" tIns="0" rIns="0" bIns="0" rtlCol="0"/>
          <a:lstStyle/>
          <a:p>
            <a:endParaRPr lang="en-IN">
              <a:solidFill>
                <a:schemeClr val="tx1"/>
              </a:solidFill>
            </a:endParaRPr>
          </a:p>
        </p:txBody>
      </p:sp>
      <p:sp>
        <p:nvSpPr>
          <p:cNvPr id="1048588" name="TextBox 6">
            <a:extLst>
              <a:ext uri="{FF2B5EF4-FFF2-40B4-BE49-F238E27FC236}">
                <a16:creationId xmlns:a16="http://schemas.microsoft.com/office/drawing/2014/main" id="{3423A1A1-917E-CE0F-5DE2-85373BA87334}"/>
              </a:ext>
            </a:extLst>
          </p:cNvPr>
          <p:cNvSpPr txBox="1"/>
          <p:nvPr/>
        </p:nvSpPr>
        <p:spPr>
          <a:xfrm>
            <a:off x="9751966" y="-54232"/>
            <a:ext cx="2241579" cy="338554"/>
          </a:xfrm>
          <a:prstGeom prst="rect">
            <a:avLst/>
          </a:prstGeom>
          <a:noFill/>
        </p:spPr>
        <p:txBody>
          <a:bodyPr wrap="square" rtlCol="0">
            <a:spAutoFit/>
          </a:bodyPr>
          <a:lstStyle/>
          <a:p>
            <a:endParaRPr lang="en-IN" sz="1600" dirty="0">
              <a:solidFill>
                <a:schemeClr val="accent5">
                  <a:lumMod val="50000"/>
                </a:schemeClr>
              </a:solidFill>
              <a:cs typeface="Arial" panose="020B0604020202020204" pitchFamily="34" charset="0"/>
            </a:endParaRPr>
          </a:p>
        </p:txBody>
      </p:sp>
      <p:sp>
        <p:nvSpPr>
          <p:cNvPr id="1048589" name="Rectangle 11">
            <a:extLst>
              <a:ext uri="{FF2B5EF4-FFF2-40B4-BE49-F238E27FC236}">
                <a16:creationId xmlns:a16="http://schemas.microsoft.com/office/drawing/2014/main" id="{0CE0F518-27A2-A260-2B77-44FAA522C484}"/>
              </a:ext>
            </a:extLst>
          </p:cNvPr>
          <p:cNvSpPr/>
          <p:nvPr/>
        </p:nvSpPr>
        <p:spPr>
          <a:xfrm>
            <a:off x="1341912" y="1"/>
            <a:ext cx="9250877" cy="9311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chemeClr val="bg1"/>
                </a:solidFill>
                <a:latin typeface="Arial" panose="020B0604020202020204" pitchFamily="34" charset="0"/>
                <a:cs typeface="Arial" panose="020B0604020202020204" pitchFamily="34" charset="0"/>
              </a:rPr>
              <a:t> </a:t>
            </a:r>
          </a:p>
          <a:p>
            <a:pPr lvl="0" algn="ctr"/>
            <a:r>
              <a:rPr lang="en-US" altLang="en-US" sz="2400" dirty="0" err="1">
                <a:solidFill>
                  <a:schemeClr val="bg1"/>
                </a:solidFill>
                <a:latin typeface="Times New Roman" panose="02020603050405020304" pitchFamily="18" charset="0"/>
                <a:cs typeface="Times New Roman" panose="02020603050405020304" pitchFamily="18" charset="0"/>
              </a:rPr>
              <a:t>Vidya</a:t>
            </a:r>
            <a:r>
              <a:rPr lang="en-US" altLang="en-US" sz="2400" dirty="0">
                <a:solidFill>
                  <a:schemeClr val="bg1"/>
                </a:solidFill>
                <a:latin typeface="Times New Roman" panose="02020603050405020304" pitchFamily="18" charset="0"/>
                <a:cs typeface="Times New Roman" panose="02020603050405020304" pitchFamily="18" charset="0"/>
              </a:rPr>
              <a:t> </a:t>
            </a:r>
            <a:r>
              <a:rPr lang="en-US" altLang="en-US" sz="2400" dirty="0" err="1">
                <a:solidFill>
                  <a:schemeClr val="bg1"/>
                </a:solidFill>
                <a:latin typeface="Times New Roman" panose="02020603050405020304" pitchFamily="18" charset="0"/>
                <a:cs typeface="Times New Roman" panose="02020603050405020304" pitchFamily="18" charset="0"/>
              </a:rPr>
              <a:t>Vikas</a:t>
            </a:r>
            <a:r>
              <a:rPr lang="en-US" altLang="en-US" sz="2400" dirty="0">
                <a:solidFill>
                  <a:schemeClr val="bg1"/>
                </a:solidFill>
                <a:latin typeface="Times New Roman" panose="02020603050405020304" pitchFamily="18" charset="0"/>
                <a:cs typeface="Times New Roman" panose="02020603050405020304" pitchFamily="18" charset="0"/>
              </a:rPr>
              <a:t> Institute of Engineering and Technology, </a:t>
            </a:r>
            <a:r>
              <a:rPr lang="en-US" altLang="en-US" sz="2400" dirty="0" err="1">
                <a:solidFill>
                  <a:schemeClr val="bg1"/>
                </a:solidFill>
                <a:latin typeface="Times New Roman" panose="02020603050405020304" pitchFamily="18" charset="0"/>
                <a:cs typeface="Times New Roman" panose="02020603050405020304" pitchFamily="18" charset="0"/>
              </a:rPr>
              <a:t>Mysuru</a:t>
            </a:r>
            <a:endParaRPr lang="en-US" altLang="en-US" sz="2400" dirty="0">
              <a:solidFill>
                <a:schemeClr val="bg1"/>
              </a:solidFill>
              <a:latin typeface="Times New Roman" panose="02020603050405020304" pitchFamily="18" charset="0"/>
              <a:cs typeface="Times New Roman" panose="02020603050405020304" pitchFamily="18" charset="0"/>
            </a:endParaRPr>
          </a:p>
          <a:p>
            <a:pPr algn="ctr"/>
            <a:r>
              <a:rPr lang="en-US" sz="2400" dirty="0">
                <a:solidFill>
                  <a:schemeClr val="bg1"/>
                </a:solidFill>
                <a:latin typeface="Times New Roman" panose="02020603050405020304" pitchFamily="18" charset="0"/>
                <a:cs typeface="Times New Roman" panose="02020603050405020304" pitchFamily="18" charset="0"/>
              </a:rPr>
              <a:t>Department of Computer Science and Engineering</a:t>
            </a:r>
          </a:p>
          <a:p>
            <a:endParaRPr lang="en-US" sz="3200" b="1" dirty="0">
              <a:solidFill>
                <a:schemeClr val="bg1"/>
              </a:solidFill>
              <a:latin typeface="Arial" panose="020B0604020202020204" pitchFamily="34" charset="0"/>
              <a:cs typeface="Arial" panose="020B0604020202020204" pitchFamily="34" charset="0"/>
            </a:endParaRPr>
          </a:p>
        </p:txBody>
      </p:sp>
      <p:sp>
        <p:nvSpPr>
          <p:cNvPr id="1048590" name="Rectangle 1">
            <a:extLst>
              <a:ext uri="{FF2B5EF4-FFF2-40B4-BE49-F238E27FC236}">
                <a16:creationId xmlns:a16="http://schemas.microsoft.com/office/drawing/2014/main" id="{E444A6EE-59D4-5A3C-4C1D-4C139D14D36C}"/>
              </a:ext>
            </a:extLst>
          </p:cNvPr>
          <p:cNvSpPr>
            <a:spLocks noChangeArrowheads="1"/>
          </p:cNvSpPr>
          <p:nvPr/>
        </p:nvSpPr>
        <p:spPr bwMode="auto">
          <a:xfrm>
            <a:off x="2128003" y="1223158"/>
            <a:ext cx="7773510" cy="400110"/>
          </a:xfrm>
          <a:prstGeom prst="rect">
            <a:avLst/>
          </a:prstGeom>
          <a:noFill/>
          <a:ln>
            <a:noFill/>
          </a:ln>
        </p:spPr>
        <p:txBody>
          <a:bodyPr wrap="square">
            <a:spAutoFit/>
          </a:bodyPr>
          <a:lstStyle/>
          <a:p>
            <a:pPr algn="ctr"/>
            <a:r>
              <a:rPr lang="en-IN" sz="2000" b="1" u="sng" dirty="0">
                <a:latin typeface="Times New Roman" panose="02020603050405020304" pitchFamily="18" charset="0"/>
                <a:cs typeface="Times New Roman" panose="02020603050405020304" pitchFamily="18" charset="0"/>
              </a:rPr>
              <a:t>References</a:t>
            </a:r>
            <a:endParaRPr lang="en-IN" sz="2000" dirty="0">
              <a:latin typeface="Times New Roman" panose="02020603050405020304" pitchFamily="18" charset="0"/>
              <a:cs typeface="Times New Roman" panose="02020603050405020304" pitchFamily="18" charset="0"/>
            </a:endParaRPr>
          </a:p>
        </p:txBody>
      </p:sp>
      <p:pic>
        <p:nvPicPr>
          <p:cNvPr id="14" name="Picture 3">
            <a:extLst>
              <a:ext uri="{FF2B5EF4-FFF2-40B4-BE49-F238E27FC236}">
                <a16:creationId xmlns:a16="http://schemas.microsoft.com/office/drawing/2014/main" id="{6C67FE6B-CFBC-B97A-C4F4-A1663CAA1F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5916" y="0"/>
            <a:ext cx="1104405" cy="100940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50">
            <a:extLst>
              <a:ext uri="{FF2B5EF4-FFF2-40B4-BE49-F238E27FC236}">
                <a16:creationId xmlns:a16="http://schemas.microsoft.com/office/drawing/2014/main" id="{E1A3C3FF-99D1-1A58-24C3-31A6204420A3}"/>
              </a:ext>
            </a:extLst>
          </p:cNvPr>
          <p:cNvSpPr>
            <a:spLocks noGrp="1" noChangeArrowheads="1"/>
          </p:cNvSpPr>
          <p:nvPr>
            <p:ph type="ctrTitle"/>
          </p:nvPr>
        </p:nvSpPr>
        <p:spPr>
          <a:xfrm>
            <a:off x="4215370" y="3259613"/>
            <a:ext cx="3753728" cy="1506406"/>
          </a:xfrm>
        </p:spPr>
        <p:txBody>
          <a:bodyPr anchor="ctr">
            <a:normAutofit/>
          </a:bodyPr>
          <a:lstStyle/>
          <a:p>
            <a:pPr algn="just">
              <a:lnSpc>
                <a:spcPct val="100000"/>
              </a:lnSpc>
            </a:pPr>
            <a:r>
              <a:rPr lang="es-ES" altLang="en-US" sz="1600" b="1" dirty="0">
                <a:solidFill>
                  <a:srgbClr val="7030A0"/>
                </a:solidFill>
                <a:latin typeface="Times New Roman" pitchFamily="18" charset="0"/>
                <a:cs typeface="Times New Roman" pitchFamily="18" charset="0"/>
              </a:rPr>
              <a:t>    </a:t>
            </a:r>
            <a:br>
              <a:rPr lang="es-ES" altLang="en-US" sz="1600" b="1" dirty="0">
                <a:latin typeface="Times New Roman" pitchFamily="18" charset="0"/>
                <a:cs typeface="Times New Roman" pitchFamily="18" charset="0"/>
              </a:rPr>
            </a:br>
            <a:endParaRPr lang="zh-CN" altLang="en-US" dirty="0"/>
          </a:p>
        </p:txBody>
      </p:sp>
      <p:sp>
        <p:nvSpPr>
          <p:cNvPr id="4" name="TextBox 3">
            <a:extLst>
              <a:ext uri="{FF2B5EF4-FFF2-40B4-BE49-F238E27FC236}">
                <a16:creationId xmlns:a16="http://schemas.microsoft.com/office/drawing/2014/main" id="{4D093D15-0382-4656-8E51-398CD2670781}"/>
              </a:ext>
            </a:extLst>
          </p:cNvPr>
          <p:cNvSpPr txBox="1"/>
          <p:nvPr/>
        </p:nvSpPr>
        <p:spPr>
          <a:xfrm>
            <a:off x="812137" y="1639199"/>
            <a:ext cx="10405241" cy="5016758"/>
          </a:xfrm>
          <a:prstGeom prst="rect">
            <a:avLst/>
          </a:prstGeom>
          <a:noFill/>
        </p:spPr>
        <p:txBody>
          <a:bodyPr wrap="square" rtlCol="0">
            <a:spAutoFit/>
          </a:bodyPr>
          <a:lstStyle/>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International Journal of Advanced Computer Science and Applications (2023). </a:t>
            </a:r>
            <a:r>
              <a:rPr lang="en-US" sz="1600" i="1" dirty="0">
                <a:latin typeface="Times New Roman" panose="02020603050405020304" pitchFamily="18" charset="0"/>
                <a:cs typeface="Times New Roman" panose="02020603050405020304" pitchFamily="18" charset="0"/>
              </a:rPr>
              <a:t>Detection of Fruit using YOLOv8-based Single Stage Object Detection for Precision Agriculture.</a:t>
            </a:r>
            <a:r>
              <a:rPr lang="en-US" sz="1600" dirty="0">
                <a:latin typeface="Times New Roman" panose="02020603050405020304" pitchFamily="18" charset="0"/>
                <a:cs typeface="Times New Roman" panose="02020603050405020304" pitchFamily="18" charset="0"/>
              </a:rPr>
              <a:t> IJACSA, Vol. 14, Issue 12.</a:t>
            </a:r>
            <a:r>
              <a:rPr lang="en-US" sz="1600" dirty="0">
                <a:latin typeface="Times New Roman" panose="02020603050405020304" pitchFamily="18" charset="0"/>
                <a:cs typeface="Times New Roman" panose="02020603050405020304" pitchFamily="18" charset="0"/>
                <a:hlinkClick r:id="rId5"/>
              </a:rPr>
              <a:t>thesai</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Nature Scientific Reports (2024). </a:t>
            </a:r>
            <a:r>
              <a:rPr lang="en-US" sz="1600" i="1" dirty="0">
                <a:latin typeface="Times New Roman" panose="02020603050405020304" pitchFamily="18" charset="0"/>
                <a:cs typeface="Times New Roman" panose="02020603050405020304" pitchFamily="18" charset="0"/>
              </a:rPr>
              <a:t>YOLOv8-CML: A Lightweight Target Detection Method for Intelligent Agriculture.</a:t>
            </a:r>
            <a:r>
              <a:rPr lang="en-US" sz="1600" dirty="0">
                <a:latin typeface="Times New Roman" panose="02020603050405020304" pitchFamily="18" charset="0"/>
                <a:cs typeface="Times New Roman" panose="02020603050405020304" pitchFamily="18" charset="0"/>
              </a:rPr>
              <a:t> Nature, 2024.</a:t>
            </a:r>
            <a:r>
              <a:rPr lang="en-US" sz="1600" dirty="0">
                <a:latin typeface="Times New Roman" panose="02020603050405020304" pitchFamily="18" charset="0"/>
                <a:cs typeface="Times New Roman" panose="02020603050405020304" pitchFamily="18" charset="0"/>
                <a:hlinkClick r:id="rId6"/>
              </a:rPr>
              <a:t>nature</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Frontiers in Plant Science (2025). </a:t>
            </a:r>
            <a:r>
              <a:rPr lang="en-US" sz="1600" i="1" dirty="0">
                <a:latin typeface="Times New Roman" panose="02020603050405020304" pitchFamily="18" charset="0"/>
                <a:cs typeface="Times New Roman" panose="02020603050405020304" pitchFamily="18" charset="0"/>
              </a:rPr>
              <a:t>RLK-YOLOv8: Multi-Stage Detection of Fruits Using Improved YOLOv8.</a:t>
            </a:r>
            <a:r>
              <a:rPr lang="en-US" sz="1600" dirty="0">
                <a:latin typeface="Times New Roman" panose="02020603050405020304" pitchFamily="18" charset="0"/>
                <a:cs typeface="Times New Roman" panose="02020603050405020304" pitchFamily="18" charset="0"/>
              </a:rPr>
              <a:t> Frontiers, Vol. 16.</a:t>
            </a:r>
            <a:r>
              <a:rPr lang="en-US" sz="1600" dirty="0">
                <a:latin typeface="Times New Roman" panose="02020603050405020304" pitchFamily="18" charset="0"/>
                <a:cs typeface="Times New Roman" panose="02020603050405020304" pitchFamily="18" charset="0"/>
                <a:hlinkClick r:id="rId7"/>
              </a:rPr>
              <a:t>frontiersin</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CGIAR (2025). </a:t>
            </a:r>
            <a:r>
              <a:rPr lang="en-US" sz="1600" i="1" dirty="0">
                <a:latin typeface="Times New Roman" panose="02020603050405020304" pitchFamily="18" charset="0"/>
                <a:cs typeface="Times New Roman" panose="02020603050405020304" pitchFamily="18" charset="0"/>
              </a:rPr>
              <a:t>From Sky to Soil: How Drones are Revolutionizing Crop Monitoring.</a:t>
            </a:r>
            <a:r>
              <a:rPr lang="en-US" sz="1600" dirty="0">
                <a:latin typeface="Times New Roman" panose="02020603050405020304" pitchFamily="18" charset="0"/>
                <a:cs typeface="Times New Roman" panose="02020603050405020304" pitchFamily="18" charset="0"/>
              </a:rPr>
              <a:t> CGIAR Research, March 2025.</a:t>
            </a:r>
            <a:r>
              <a:rPr lang="en-US" sz="1600" dirty="0">
                <a:latin typeface="Times New Roman" panose="02020603050405020304" pitchFamily="18" charset="0"/>
                <a:cs typeface="Times New Roman" panose="02020603050405020304" pitchFamily="18" charset="0"/>
                <a:hlinkClick r:id="rId8"/>
              </a:rPr>
              <a:t>cigar</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r>
              <a:rPr lang="en-US" sz="1600" dirty="0">
                <a:latin typeface="Times New Roman" panose="02020603050405020304" pitchFamily="18" charset="0"/>
                <a:cs typeface="Times New Roman" panose="02020603050405020304" pitchFamily="18" charset="0"/>
              </a:rPr>
              <a:t>Journal of Agricultural and Crop Research (2025). </a:t>
            </a:r>
            <a:r>
              <a:rPr lang="en-US" sz="1600" i="1" dirty="0">
                <a:latin typeface="Times New Roman" panose="02020603050405020304" pitchFamily="18" charset="0"/>
                <a:cs typeface="Times New Roman" panose="02020603050405020304" pitchFamily="18" charset="0"/>
              </a:rPr>
              <a:t>Optimizing Crop Monitoring Efficiency and Precision with Drone Technology.</a:t>
            </a:r>
            <a:r>
              <a:rPr lang="en-US" sz="1600" dirty="0">
                <a:latin typeface="Times New Roman" panose="02020603050405020304" pitchFamily="18" charset="0"/>
                <a:cs typeface="Times New Roman" panose="02020603050405020304" pitchFamily="18" charset="0"/>
              </a:rPr>
              <a:t> ACRI, 2025.</a:t>
            </a:r>
            <a:r>
              <a:rPr lang="en-US" sz="1600" dirty="0">
                <a:latin typeface="Times New Roman" panose="02020603050405020304" pitchFamily="18" charset="0"/>
                <a:cs typeface="Times New Roman" panose="02020603050405020304" pitchFamily="18" charset="0"/>
                <a:hlinkClick r:id="rId9"/>
              </a:rPr>
              <a:t>journalacri</a:t>
            </a:r>
            <a:endParaRPr lang="en-US" sz="16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12"/>
            </a:pPr>
            <a:r>
              <a:rPr lang="en-US" sz="1600" dirty="0">
                <a:latin typeface="Times New Roman" panose="02020603050405020304" pitchFamily="18" charset="0"/>
                <a:cs typeface="Times New Roman" panose="02020603050405020304" pitchFamily="18" charset="0"/>
              </a:rPr>
              <a:t>Equinox Drones (2024). </a:t>
            </a:r>
            <a:r>
              <a:rPr lang="en-US" sz="1600" i="1" dirty="0">
                <a:latin typeface="Times New Roman" panose="02020603050405020304" pitchFamily="18" charset="0"/>
                <a:cs typeface="Times New Roman" panose="02020603050405020304" pitchFamily="18" charset="0"/>
              </a:rPr>
              <a:t>Agriculture Drones for Precision Farming — UAV Aerial Imagery with Machine Learning.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equinoxsdrones.com</a:t>
            </a:r>
            <a:r>
              <a:rPr lang="en-US" sz="1600" dirty="0">
                <a:latin typeface="Times New Roman" panose="02020603050405020304" pitchFamily="18" charset="0"/>
                <a:cs typeface="Times New Roman" panose="02020603050405020304" pitchFamily="18" charset="0"/>
              </a:rPr>
              <a:t>, 2024.</a:t>
            </a:r>
            <a:r>
              <a:rPr lang="en-US" sz="1600" dirty="0">
                <a:latin typeface="Times New Roman" panose="02020603050405020304" pitchFamily="18" charset="0"/>
                <a:cs typeface="Times New Roman" panose="02020603050405020304" pitchFamily="18" charset="0"/>
                <a:hlinkClick r:id="rId10"/>
              </a:rPr>
              <a:t>equinoxsdrones</a:t>
            </a:r>
            <a:endParaRPr lang="en-US" sz="1600" dirty="0">
              <a:latin typeface="Times New Roman" panose="02020603050405020304" pitchFamily="18" charset="0"/>
              <a:cs typeface="Times New Roman" panose="02020603050405020304" pitchFamily="18" charset="0"/>
            </a:endParaRPr>
          </a:p>
          <a:p>
            <a:pPr marL="342900" indent="-342900" algn="just">
              <a:buFont typeface="+mj-lt"/>
              <a:buAutoNum type="arabicPeriod" startAt="7"/>
            </a:pP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7C23AC3-FA94-65E0-0BC6-94763DC93B73}"/>
              </a:ext>
            </a:extLst>
          </p:cNvPr>
          <p:cNvSpPr>
            <a:spLocks noGrp="1"/>
          </p:cNvSpPr>
          <p:nvPr>
            <p:ph type="sldNum" sz="quarter" idx="12"/>
          </p:nvPr>
        </p:nvSpPr>
        <p:spPr/>
        <p:txBody>
          <a:bodyPr/>
          <a:lstStyle/>
          <a:p>
            <a:fld id="{8C89584D-E97D-47EB-8490-6F36AE365490}" type="slidenum">
              <a:rPr lang="en-IN" smtClean="0"/>
              <a:pPr/>
              <a:t>12</a:t>
            </a:fld>
            <a:endParaRPr lang="en-IN"/>
          </a:p>
        </p:txBody>
      </p:sp>
    </p:spTree>
    <p:extLst>
      <p:ext uri="{BB962C8B-B14F-4D97-AF65-F5344CB8AC3E}">
        <p14:creationId xmlns:p14="http://schemas.microsoft.com/office/powerpoint/2010/main" val="1833834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1226</TotalTime>
  <Words>1008</Words>
  <Application>Microsoft Macintosh PowerPoint</Application>
  <PresentationFormat>Widescreen</PresentationFormat>
  <Paragraphs>141</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     Akshatha G                      4VM23CS001 Mahesh S                          4VM23CS033  S Mohammed Maaz         4VM23CS043  Syeda Umme Haani         4VM23CS055   </vt:lpstr>
      <vt:lpstr>PowerPoint Presentation</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NAME                         USN      Brunda N                 - 4VM19IS007 Renuka S                 - 4VM19IS033 Shivani BM             - 4VM19IS037 Swathi R Bhat        - 4VM19IS042</dc:title>
  <dc:creator>Mohan babu S</dc:creator>
  <cp:lastModifiedBy>Mahesh S</cp:lastModifiedBy>
  <cp:revision>49</cp:revision>
  <cp:lastPrinted>2026-05-15T06:45:08Z</cp:lastPrinted>
  <dcterms:created xsi:type="dcterms:W3CDTF">2022-12-17T06:08:39Z</dcterms:created>
  <dcterms:modified xsi:type="dcterms:W3CDTF">2026-08-14T05:53:56Z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fb9ea83d22394265b3f8601dd4d1df6b</vt:lpwstr>
  </property>
</Properties>
</file>